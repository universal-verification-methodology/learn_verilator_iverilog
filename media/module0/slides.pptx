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1: iverilog -o hello_world hello_world.v. Step 2: vvp hello_world.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verilator --cc --exe --build; run ./obj_dir/Vhello_world; dut-&gt;eval() each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Flat combinational RTL; TB instantiates at top level for smoke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— execution and artifact layout.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Follow this order when tracing waveforms or debugging.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Follow this order when tracing waveforms or debugging.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hello_world runs iverilog then vvp from the example directory.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VERILATOR_FLAGS --cc --exe --build; output binary under obj_dir/.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$dumpfile and $dumpvars create VCD; open with gtkwave for debug.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install scripts once; verify with iverilog -v and verilator --version.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from course repository root.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module0/examples/iverilog_basics/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module0/examples/verilator_basics/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module0/examples/comparison/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9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0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1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2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Module 0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  <a:defRPr sz="2600" b="0">
                <a:solidFill>
                  <a:srgbClr val="333333"/>
                </a:solidFill>
                <a:latin typeface="Calibri"/>
              </a:defRPr>
            </a:pPr>
            <a:r>
              <a:t>Installation and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Tool Installation: Automated and manual installation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methods for all verification tools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Environment Setup: Configure your development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environment for efficient verification work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First Testbenches: Create and run your first "Hello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World" testbenches in both paradigms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Waveform Analysis: Generate and view waveforms using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GTKWave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Project Structure: Organize your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project following best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Tool Comparison: Understand when to use iverilog vs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Verilator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Have a Linux, macOS, or Windows (WSL2) system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Have basic command-line knowledge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Have Git installed (for cloning the repository)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Have a C/C++ compiler available (GCC, Clang, 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MSVC)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Set up verification environment with iverilog and Verilator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This module covers the complete setup of your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verification environment, including installation of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Design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Verification toolchain layout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Host environment: Linux, macOS,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or WSL2 with GCC/Clang, Make,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Git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Icarus path: `iverilog` compiles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RTL + TB → `simv` (or named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binary) executed by `vvp`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Verilator path: `verilator --cc`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emits C++ model under `obj_dir/`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linked with a C++ testbench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Waveform path: Simulators write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VCD/FST; GTKWave visualizes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signal transitions</a:t>
            </a:r>
          </a:p>
        </p:txBody>
      </p:sp>
      <p:pic>
        <p:nvPicPr>
          <p:cNvPr id="4" name="Picture 3" descr="rt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Verification toolchain layout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Course layout: `scripts/install_*.sh`,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`module0/examples/`, `module0/dut/`,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`module0/tests/`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Reference DUT hierarchy (Module 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`module0/dut/simple_gates/`: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Combinational `and_gate`,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`or_gate` — minimal port lists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(a, b, y)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`module0/dut/counters/`: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`simple_counter` — clocked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sequential logic with enable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reset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Hierarchy depth: Flat RTL (no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sub-modules) so install smoke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tests stay fast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TB attachment: Testbench modules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instantiate DUT at top level; no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bus fabric yet</a:t>
            </a:r>
          </a:p>
        </p:txBody>
      </p:sp>
      <p:pic>
        <p:nvPicPr>
          <p:cNvPr id="4" name="Picture 3" descr="verificat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First simulation artifact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iverilog: `iverilog -o sim tb.v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dut.v` → `vvp sim` → optional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`$dumpfile` VCD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Verilator: `verilator --cc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--exe` → `make -C obj_dir` →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`./obj_dir/Vdut`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 dirs: Per-example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`Makefile` targets; artifacts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under `build/` or `obj_dir/`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(gitignored)</a:t>
            </a:r>
          </a:p>
        </p:txBody>
      </p:sp>
      <p:pic>
        <p:nvPicPr>
          <p:cNvPr id="4" name="Picture 3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RTL block diagram (reference)</a:t>
            </a:r>
          </a:p>
        </p:txBody>
      </p:sp>
      <p:pic>
        <p:nvPicPr>
          <p:cNvPr id="3" name="Picture 2" descr="rt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Module 0: DUT hierarchy and signal flow.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iverilog — compile then simulate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initial begin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// $display is a system task that prints formatted text to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stdout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// Similar to printf() in C or print() in Python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$display("========================================");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$display("Hello World from Icarus Verilog!");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$display("========================================");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$display("If you see this message, iverilog is working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correctly.");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// $time is a system function that returns current simulation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time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// %0t formats it as a decimal number (no leading zeros)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$display("Time: %0t", $time);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$display("========================================");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// #10 introduces a delay of 10 time units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// Default time unit is typically 1ns (can be set with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Verilator — C++ model and eval()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Verilated::commandArgs(argc, argv);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// Print test header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std::cout &lt;&lt; "========================================" &lt;&lt;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std::endl;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std::cout &lt;&lt; "Hello World from Verilator!" &lt;&lt; std::endl;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std::cout &lt;&lt; "========================================" &lt;&lt;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std::endl;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std::cout &lt;&lt; "If you see this message, Verilator is working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correctly." &lt;&lt; std::endl;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/**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* Create DUT (Design Under Test) Instance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*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* Verilator generates a C++ class for each Verilog module.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* Class naming convention: V&lt;module_name&gt;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*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* For module "hello_world", Verilator generates class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Reference DUT — and_gate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always @(*) begin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// AND operation: y is 1 only when both a and b are 1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// This is the fundamental AND gate behavior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y = a &amp; b;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end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endmodule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Execution &amp; simulation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How the example runs (toolchain)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Makefile: Verilator compiles RTL + SystemVerilog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testbench into a C++ model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sim_main.cpp: generates clk/rst_n, calls eval()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until $finish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Directed test (initial block or C++): drive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stimulus, wait for DUT flags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Self-check: compare outputs; print PASS/FAIL (see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terminal demo slide)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Repo path: module0/examples/&lt;example&gt;/ — run make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run from that directory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Directed test execution sequence 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make hello_world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PASS console message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optional GTKWave on .vcd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Install tools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iverilog -v / verilator --version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Directed test execution sequence (2)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iverilog -o sim tb.v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vvp sim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optional $dumpfile VCD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Makefile — iverilog hello_world target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hello_world: hello_world.v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@echo "Compiling hello_world..."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# Compile Verilog file into executable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# -o: output filename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$(IVERILOG) -o hello_world hello_world.v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@echo "Running hello_world..."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# Run compiled simulation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$(VVP) hello_world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Verilator Makefile — build and 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hello_world: hello_world.v hello_world.cpp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@echo "Compiling hello_world with Verilator..."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# Verilator generates C++ class from Verilog module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# Then compiles C++ testbench with generated code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# Creates executable: ./obj_dir/Vhello_world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$(VERILATOR) $(VERILATOR_FLAGS) hello_world.v hello_world.cpp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@echo "Running hello_world..."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# Execute the compiled simulation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./obj_dir/Vhello_world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GTKWave example — VCD generation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/**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GTKWave Usage Example for iverilog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This testbench demonstrates: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- VCD file generation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- Multiple signal types (clock, data, control)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- Signal transitions for waveform analysis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- GTKWave viewing workflow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Usage: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  iverilog -o gtkwave_example gtkwave_example.v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../../dut/simple_gates/and_gate.v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  vvp gtkwave_example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  gtkwave gtkwave_example.vcd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*/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`timescale 1ns/1ps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 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Verification &amp; testing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Install and environment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Version checks: `iverilog -v`,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`verilator --version`, `gtkwave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--version`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PATH and compiler: Confirm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`g++`/`gcc` available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Verilator link step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Self-check: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`./scripts/module0.sh --check`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validates examples and DUT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compiles</a:t>
            </a:r>
          </a:p>
        </p:txBody>
      </p:sp>
      <p:pic>
        <p:nvPicPr>
          <p:cNvPr id="4" name="Picture 3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Hello-world test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Smoke test: Minimal compile-and-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run per tool (no functional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depth required)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Pass criteria: Clean compile,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simulation exits 0, expected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`$display` or C++ `printf`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Waveform spot-check: Open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generated VCD in GTKWave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confirm clock/reset toggles</a:t>
            </a:r>
          </a:p>
        </p:txBody>
      </p:sp>
      <p:pic>
        <p:nvPicPr>
          <p:cNvPr id="4" name="Picture 3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Debugging and regression basics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Log-first: Capture simulator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stdout; use `-g` / `--trace`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when examples enable it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Compare tools: Run same DUT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iverilog vs Verilator to see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flow differences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Repeatability: Document working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directory and Make target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`commands_to_try.txt`</a:t>
            </a:r>
          </a:p>
        </p:txBody>
      </p:sp>
      <p:pic>
        <p:nvPicPr>
          <p:cNvPr id="4" name="Picture 3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Install verification — version checks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#!/bin/bash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 Icarus Verilog (iverilog) Installation Script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 Installs iverilog from system package manager or builds from source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 Usage: ./install_iverilog.sh [--system] [--source] [OPTIONS]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set -euo pipefail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 Colors for output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RED='\033[0;31m'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GREEN='\033[0;32m'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YELLOW='\033[1;33m'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BLUE='\033[0;34m'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NC='\033[0m' # No Color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 Get script directory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 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Syllabus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Protocol &amp; design details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iverilog Installation Issues 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Cause: iverilog not installed or not in PATH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Verify: `iverilog -v` should show version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Cause: SystemVerilog syntax not supported by default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iverilog Installation Issues (2)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 Use `-g2012` flag for SystemVerilog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support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Note: Some SystemVerilog features may still be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limited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Cause: Missing include path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 Add include directory with `-I` flag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Verilator Installation Issues 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Cause: Verilator not installed or not in PATH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Cause: Installed version is too old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 Install from source for latest version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Verilator Installation Issues (2)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Cause: C++ compiler not installed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 Install build essentials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Cause: Verilator headers not found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 Check Verilator installation and include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paths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GTKWave Issues 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Cause: GTKWave not installed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Cause: File format issue or corrupted file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GTKWave Issues (2)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Verify VCD file was generated correctly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 file permissions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Try regenerating: `vvp executable` (should create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.vcd file)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Platform-Specific Issues 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Issue: Package manager version may be outdated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 Use installation scripts or build from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source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Issue: Homebrew version may be outdated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 Use `--source` flag to build from source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Platform-Specific Issues (2)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Issue: Some tools may not work in Windows directly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 Use WSL2 Ubuntu and install there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Build System Issues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Issue: `make: *** No targets specified and no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makefile found`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 Ensure you're in the correct directory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with a Makefile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Issue: Files not found during compilation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 Check relative paths and use `-I` flags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correctly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IDE Issues 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VS Code: Install "SystemVerilog" extension by mshr-h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Vim: Install vim-systemverilog plugin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Verification: Open a `.sv` file and check for syntax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highlighting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Issue: IDE can't find included 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IDE Issues (2)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 Configure include paths in IDE settings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VS Code: Add to `settings.json`: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Issue: Can't set breakpoints or debug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Verification flow (reference)</a:t>
            </a:r>
          </a:p>
        </p:txBody>
      </p:sp>
      <p:pic>
        <p:nvPicPr>
          <p:cNvPr id="3" name="Picture 2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Stimulus, DUT response, and check points for this module.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System Requirements and Prerequisites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Operating System Support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Linux (Ubuntu/Debian, CentOS/RHEL, Fedora)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macOS (Intel and Apple Silicon)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Windows (WSL2 recommended)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Hardware Requirements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Minimum 4GB RAM (8GB+ recommended)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System Requirements and Prerequisites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5GB free disk space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Multi-core processor recommended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Software Prerequisites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C/C++ compiler (GCC 7+, Clang 10+, or MSVC)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Make or Ninja build system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System Requirements and Prerequisites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Perl (for some tools)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Icarus Verilog (iverilog) Installation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What is iverilog?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Open-source Verilog/SystemVerilog simulator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Good for learning and prototyping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Supports most Verilog constructs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Limited SystemVerilog support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Automated Installation (Recommended)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Icarus Verilog (iverilog) Installation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Using the installation script: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The script automatically: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Checks for existing installations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Installs system dependencies (build tools,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libraries)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Builds and installs iverilog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Verifies the installation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Icarus Verilog (iverilog) Installation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Manual Installation Methods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Linux Installation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Ubuntu/Debian: `sudo apt-get install iverilog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gtkwave`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CentOS/RHEL: `sudo yum install iverilog gtkwave`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Fedora: `sudo dnf install iverilog gtkwave`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Building from source (latest features)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Icarus Verilog (iverilog) Installation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macOS Installation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Homebrew installation: `brew install icarus-verilog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gtkwave`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Building from source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Windows/WSL2 Installation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Installing in WSL2 Ubuntu: `sudo apt-get install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iverilog gtkwave`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Building from source in WSL2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Icarus Verilog (iverilog) Installation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Verification Steps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 iverilog version: `iverilog -v`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 vvp runtime: `vvp -v`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 simple test: `echo 'module test; initial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$display("Hello"); endmodule' | iverilog -o test 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&amp;&amp;…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Verilator Installation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What is Verilator?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Fast Verilog/SystemVerilog simulator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Generates C++ code from Verilog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Excellent performance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Limited SystemVerilog support (some features)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Automated Installation (Recommended)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Verilator Installation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Using the installation script: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The script automatically: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Checks for existing installations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Installs system dependencies (build tools,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libraries)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Sets up git submodule in `tools/verilator/`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Builds and installs Verilator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Verilator Installation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Verifies the installation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Manual Installation Methods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Linux Installation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Ubuntu/Debian: `sudo apt-get install verilator`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CentOS/RHEL: `sudo yum install verilator`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Fedora: `sudo dnf install verilator`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Verilator Installation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Building from source (latest features)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macOS Installation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Homebrew installation: `brew install verilator`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Building from source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Windows/WSL2 Installation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Installing in WSL2 Ubuntu: `sudo apt-get install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verilator`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Verilator Installation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Building from source in WSL2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Verification Steps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 Verilator version: `verilator --version`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 simple test: Create a minimal Verilog file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compile with Verilator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GTKWave Installation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What is GTKWave?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Waveform viewer for VCD and FST files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Essential for debugging testbenches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Open-source and cross-platform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Installation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Usually installed with iverilog package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GTKWave Installation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Linux: `sudo apt-get install gtkwave` (or included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with iverilog)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macOS: `brew install gtkwave` (or included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icarus-verilog)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Windows: Available as standalone installer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Verification Steps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 GTKWave: `gtkwave --version`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Open a VCD file: `gtkwave waveform.vcd`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Build System Configuration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Makefile Setup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Basic Makefile for iverilog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Basic Makefile for Verilator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Compilation flags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Include paths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Build System Configuration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iverilog Compilation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Compilation command: `iverilog -o output input.v`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Include paths: `-I&lt;directory&gt;`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Define macros: `-D&lt;macro&gt;`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Timescale handling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Multi-file compilation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Build System Configuration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Verilator Compilation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Compilation command: `verilator --cc --exe design.v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testbench.cpp`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SystemVerilog flags: `-sv`, `--timing`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Include paths: `-I&lt;directory&gt;`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Optimization flags: `-O0`, `-O1`, `-O2`, `-O3`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options: `--coverage`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Build System Configuration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Waveform generation: `--trace`, `--trace-fst`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IDE Setup and Configuration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Recommended IDEs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VS Code with Verilog/SystemVerilog extension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Verible (SystemVerilog linter/formatter)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Vim/Neovim with LSP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Emacs with Verilog mode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VS Code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IDE Setup and Configuration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SystemVerilog extension setup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iverilog integration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Verilator integration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Debugging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Task runner setup for simulations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Extension 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IDE Setup and Configuration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Editor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SystemVerilog formatting (Verible)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Linting (Verilator, Verible)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Code formatting on save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Syntax highlighting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Project Structure Setup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Directory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Source code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directory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DUT (Design Under Test)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files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`tools/` directory for tools (Verilator as git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submodule)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Project Structure Setup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Git Submodules Management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Verilator is managed as a git submodule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`tools/verilator/`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Initialize submodules: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`./scripts/init_submodules.sh` or `git submodule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update --init --recursive`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Update submodules: `./scripts/update_submodules.sh`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or `git submodule update --remote`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Add new submodule: `./scripts/add_submodule.sh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&lt;repo_url&gt; &lt;path&gt;`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Remove submodule: `./scripts/remove_submodule.sh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&lt;path&gt;`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Project Structure Setup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Makefile/Configuration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Simple Makefile for running tests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iverilog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Verilator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Environment variable management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Version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Project Structure Setup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Git initialization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.gitignore for Verilog and simulation (include build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artifacts, waveforms)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Initial commit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Git submodules in `.gitmodules` 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First "Hello World" Verification Test (1/8)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Prerequisites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Ensure all tools are installed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Verify tools are accessible: `iverilog -v`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`verilator --version`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iverilog Hello World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Location: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`module0/examples/iverilog_basics/hello_world.v`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Simplest possible testbench to verify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iverilog installation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First "Hello World" Verification Test (2/8)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 Concepts: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`module` declaration (testbench has no ports)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`initial` block for procedural code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`$display` system task for output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`$finish` system task to end simulation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Time delays with `#delay`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First "Hello World" Verification Test (3/8)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Compilation: `iverilog -o hello_world hello_world.v`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Simulation: `vvp hello_world`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Understanding Output: Console messages confirm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successful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GTKWave Waveform Example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Location: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`module0/examples/iverilog_basics/gtkwave_example.v`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Comprehensive example demonstrating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waveform generation and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First "Hello World" Verification Test (4/8)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 Concepts: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VCD (Value Change Dump) file generation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`$dumpfile` and `$dumpvars`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generation using `forever` loops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signal types (clock, data, control signals)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transitions for timing analysis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phases and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First "Hello World" Verification Test (5/8)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Compilation: `iverilog -o gtkwave_example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gtkwave_example.v ../../dut/simple_gates/and_gate.v`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Simulation: `vvp gtkwave_example` (generates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`gtkwave_example.vcd`)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Viewing: `gtkwave gtkwave_example.vcd` or `make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view_waveforms`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GTKWave Features Demonstrated: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hierarchy navigation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Time marker placement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First "Hello World" Verification Test (6/8)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Zoom and pan operations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Save file creation for quick reload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Verilator Hello World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Location: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`module0/examples/verilator_basics/hello_world.cpp`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`hello_world.v`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Simplest possible C++ testbench to verify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Verilator installation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 Concepts: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First "Hello World" Verification Test (7/8)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Verilator compilation process (`verilator --cc --exe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--build`)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Generated C++ class structure (`V&lt;module_name&gt;`)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DUT instantiation in C++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`eval()` method for simulation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`final()` method for cleanup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Verilator initialization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`Verilated::commandArgs()`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First "Hello World" Verification Test (8/8)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Compilation: `verilator --cc --exe --build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hello_world.v hello_world.cpp`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Running: `./obj_dir/Vhello_world`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Understanding Output: Console messages confirm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successful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Tool Comparison and Selection Criteria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iverilog Characteristics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Verilog/SystemVerilog testbenches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Good for learning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Easy to use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Good waveform support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Moderate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Tool Comparison and Selection Criteria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Verilator Characteristics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C++ testbenches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Excellent performance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Good for large designs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Requires C++ knowledge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Limited SystemVerilog support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Tool Comparison and Selection Criteria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When to Use Each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iverilog for: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Learning Verilog testbench concepts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Quick prototyping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Simple to medium complexity designs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When you prefer Verilog syntax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Tool Comparison and Selection Criteria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Verilator for: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High-performance simulation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Large designs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Integration with C++ libraries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Complex testbenches with advanced data structures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10. Common Pitfalls and Solutions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Pitfall 1: Installation Script Permissions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Pitfall 2: Missing Build Dependencies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Pitfall 3: Verilator Version Too Old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Pitfall 4: PATH Not Updated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11. Troubleshooting Common Issues (1/8)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Cause: iverilog not installed or not in PATH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Verify: `iverilog -v` should show version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Cause: SystemVerilog syntax not supported by default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 Use `-g2012` flag for SystemVerilog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support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Note: Some SystemVerilog features may still be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limited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11. Troubleshooting Common Issues (2/8)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Cause: Missing include path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 Add include directory with `-I` flag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Cause: VVP runtime not installed or not in PATH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 VVP is usually installed with iverilog.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Reinstall if missing: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Cause: Verilator not installed or not in PATH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11. Troubleshooting Common Issues (3/8)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Cause: Installed version is too old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 Install from source for latest version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Cause: C++ compiler not installed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 Install build essentials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Cause: Verilator headers not found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 Check Verilator installation and include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paths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11. Troubleshooting Common Issues (4/8)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Cause: Missing Verilator library linking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 Ensure Makefile includes Verilator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libraries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Cause: GTKWave not installed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Cause: File format issue or corrupted file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11. Troubleshooting Common Issues (5/8)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Verify VCD file was generated correctly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 file permissions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Try regenerating: `vvp executable` (should create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.vcd file)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Issue: Package manager version may be outdated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 Use installation scripts or build from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source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Issue: Homebrew version may be outdated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11. Troubleshooting Common Issues (6/8)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 Use `--source` flag to build from source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Issue: Some tools may not work in Windows directly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 Use WSL2 Ubuntu and install there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Issue: `make: *** No targets specified and no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makefile found`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 Ensure you're in the correct directory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with a Makefile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Issue: Files not found during compilation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11. Troubleshooting Common Issues (7/8)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 Check relative paths and use `-I` flags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correctly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VS Code: Install "SystemVerilog" extension by mshr-h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Vim: Install vim-systemverilog plugin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Verification: Open a `.sv` file and check for syntax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highlighting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Issue: IDE can't find included files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 Configure include paths in IDE settings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11. Troubleshooting Common Issues (8/8)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VS Code: Add to `settings.json`: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Issue: Can't set breakpoints or debug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 Verilator: Use GDB with compiled executable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 iverilog: Use VCD waveforms for debugging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12. Verification Checklist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C/C++ compiler installed and working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iverilog installed and verified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Using script: `./scripts/install_iverilog.sh`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Verify: `iverilog -v` and `vvp -v`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Verilator installed and verified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Using script: `./scripts/install_verilator.sh`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12. Verification Checklist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Verify: `verilator --version`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GTKWave installed and verified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Verify: `gtkwave --version`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All tools verified together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IDE configured and working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First test runs successfully (both iverilog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Verilator)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12. Verification Checklist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create and run simple testbench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 basic project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Know how to get help when stuck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 tool differences and when to use each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Hands-on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Module 0 self-check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./scripts/module0.sh --help</a:t>
            </a:r>
          </a:p>
        </p:txBody>
      </p:sp>
      <p:pic>
        <p:nvPicPr>
          <p:cNvPr id="4" name="Picture 3" descr="module0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 scaffold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./scripts/module0.sh --scaffold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iverilog basics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module0/examples/iverilog_basics &amp;&amp; make hello_world</a:t>
            </a:r>
          </a:p>
        </p:txBody>
      </p:sp>
      <p:pic>
        <p:nvPicPr>
          <p:cNvPr id="4" name="Picture 3" descr="ex01_iverilog_bas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Verilator basics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ls -la module0/examples/verilator_basics &amp;&amp; head -20</a:t>
            </a:r>
          </a:p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module0/examples/verilator_basics/Makefile</a:t>
            </a:r>
          </a:p>
        </p:txBody>
      </p:sp>
      <p:pic>
        <p:nvPicPr>
          <p:cNvPr id="4" name="Picture 3" descr="ex02_verilator_bas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Tool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module0/examples/comparison &amp;&amp; ls -la &amp;&amp; head -30 README.md</a:t>
            </a:r>
          </a:p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2&gt;/dev/null || head -30 Makefile</a:t>
            </a:r>
          </a:p>
        </p:txBody>
      </p:sp>
      <p:pic>
        <p:nvPicPr>
          <p:cNvPr id="4" name="Picture 3" descr="ex03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Practice &amp;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Install and configure all required tools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Set up iverilog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Set up Verilator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Install and verify GTKWave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Configure your IDE for verification work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Create a basic project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 simple verification tests with both tools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 tool differences and selection criteria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Troubleshoot common installation issues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Installation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Environment Setup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First Tests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IDE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Project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Tool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Assessment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install all required tools independently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set up iverilog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verify iverilog installation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set up Verilator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verify Verilator installation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install and verify GTKWave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Set up verification environment with iverilog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Verilator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module0/CHECKLIST.md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Review module0/EXAMPLES.md and run each lab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Next module in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