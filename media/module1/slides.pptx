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module1/examples/compilation/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module1/examples/simulation/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module1/examples/testbench_basics/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module1/examples/file_io/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module1/examples/waveforms/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module1/examples/debugging/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iverilog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iverilog for Verilog/SystemVerilog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iverilog for Verilog/SystemVerilog testbench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provides comprehensive coverage of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Icarus Verilog (iverilog), an open-source 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/ block architecture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1: DUT / block hierarchy (see module1/examples/).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environment architecture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1: UVM layers, agents, and checkers for this phase.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compile-and-run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Sources: RTL under `module1/dut/` plus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under `examples/` or `tests/`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Compile: `iverilog` elaborates modules, produces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VVP bytecode executable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Simulate: `vvp` drives the event scheduler;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`$dumpvars` can emit VCD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Artifacts: `simv` (or custom name), `*.vcd`,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logs in example directories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Module 1 DUT catalog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`dut/multiplexers/`: `mux_2to1`, `mux_4to1` — select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lines, combinational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`dut/counters/`: `counter_4bit` — clock, 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enable, parallel load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pattern: Clock + reset on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blocks; data ports on combinational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Reuse: Same DUTs exercised across compilation,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simulation, and testbench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Verilog testbench structure (iverilog)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Top: `module tb;` instantiates DUT, declares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wires/regs for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Stimulus: `initial` blocks and tasks drive inputs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Observation: `$display`, `$monitor`, and VCD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passive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Closure: `$finish` after pass/fail counts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timeout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Testing and closure flow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1: how tests, checks, and metrics close verification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Directed functional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Vector tables: Apply known (sel, d0..d3) or (en,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load) patterns; compare `y` or `count`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Corner cases: Reset during operation, enable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deasserted, all MUX select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Inline `if (expected !== actual)`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 count and final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File-based and batch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vectors: Read stimulus from files (`file_io`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examples) for regression-style reruns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Golden logs: Compare simulator output to expected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transcripts where provided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Orchestration: `./scripts/module1.sh` runs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matrix; `--check` for CI-style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Waveform and debug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generation: Enable `$dumpfile` / `$dumpvars`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TB or via plusargs where shown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GTKWave: Align clock edges, verify reset release,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step through MUX transitions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flow: Re-run single example with `make clean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&amp;&amp; make` and narrowed stimulus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Overview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iverilog?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Verilog/SystemVerilog simulator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Part of the Icarus Verilog project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Cross-platform (Linux, macOS, Windows)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Free and open-source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iverilog Capabilities and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Overview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Verilog-2001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support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waveform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PLI/VPI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Fast compilation and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Supported Verilog/SystemVerilog Constructs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Overview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Most Verilog-2001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SystemVerilog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(limited)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 and Workarounds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Overview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Limited SystemVerilog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Some advanced features not supported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 for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Workarounds for unsupported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Learning Verilog testbench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iverilog Overview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Quick prototyping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Simple to medium complexity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you prefer Verilog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Open-source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(1/6)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**Compilation Command (`iverilog`)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syntax: `iverilog -o output input.v`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file specification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file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Options and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`-o &lt;file&gt;`: Specify output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(2/6)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`-I&lt;directory&gt;`: Add include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`-D&lt;macro&gt;=&lt;value&gt;`: Define macro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`-g&lt;spec&gt;`: Specify language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`-s &lt;top&gt;`: Specify top-level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`-t &lt;target&gt;`: Specify target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 Management (`-I`)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(3/6)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Adding include directories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include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Relative vs. absolute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Macros (`-D`)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(4/6)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Macro definitions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Timescale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`timescale directive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timescale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(5/6)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Timescale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Multi-File Compilation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Compiling multiple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Compilation Process (6/6)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Library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Precompiled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`basic_compilation.v`: Demonstrates basic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compilation, include paths, macros, multi-file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Simulation Execution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VVP (Icarus Verilog Runtime)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VVP?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simulations: `vvp executable`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VVP vs. other simulators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Command and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execution: `vvp executable`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Simulation Execution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Command-line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`-v`: Verbose mode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`-n`: No execution (syntax check)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`-M &lt;path&gt;`: Module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Simulation Execution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`-m &lt;module&gt;`: Load module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Starting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Stopping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Simulation Execution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Considerations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speed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Large design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Optimization tips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`vvp_basics.v`: Demonstrates VVP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 and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Verilog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Module-based testbenches (foundation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Top-level testbench module (analogous to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instantiation (part of UVM environment)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declarations (evolve into UVM interfaces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Module-Based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as a module (no ports needed, self-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Internal signal declarations (signals connect DUT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In UVM, this structure evolves into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environments with agents, drivers, monitors, an…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Initial Blocks for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sequence organization (foundation for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test application (stimulus generation)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control (delay and synchronization)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initial blocks (concurrent test processes)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Initial blocks with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evolve into UVM sequences that generate transact…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Blocks for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patterns (essential for sequential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Continuous clock (runs forever)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Gated clock (conditional clock)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clocks (multi-clock domain designs)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Clock generation in UVM is handled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by clocking blocks and virtual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Access and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signals (observing DUT outputs)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signals (driving DUT inputs)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monitoring (continuous observation)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tracing (debugging)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Signal access evolves into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monitors that observe transactions and send them to…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$display, $monitor, $strobe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`$display`: Immediate output (prints when called)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`$monitor`: Continuous monitoring (prints on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changes)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`$strobe`: End-of-time-step output (prints after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assignments)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Formatting options (similar to printf in 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each (timing differences matter)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These system tasks are used in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logging and debugging, but UVM also provides…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 I/O ($readmemh, $readmemb, $fopen, $fwrite)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memory files: `$readmemh` (hex), `$readmemb`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(binary)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Opening files: `$fopen` (returns file handle)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files: `$fwrite`, `$fdisplay` (formatted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Closing files: `$fclose` (cleanup)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testbenches (separate test data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File-based test vectors evolve into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transaction-based verification where sequences…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`module1/examples/testbench_basics/`: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Verilog Testbench Writing for iverilog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`mux_4to1_test.v`: Demonstrates basic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structure, stimulus generation, and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`counter_test.v`: Demonstrates clock generation,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 sequences, and sequential logic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`module1/examples/file_io/`: File I/O operations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file-based test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Waveform Generation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Generation ($dumpfile, $dumpvars)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`$dumpfile`: Specify VCD filename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`$dumpvars`: Select signals to dump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 levels (0, 1, 2,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Selection for Waveforms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Waveform Generation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Dumping all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Dumping specific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Dumping hierarchy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Selective dumping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Compatibility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Waveform Generation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GTKWave viewing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Save files (.gtkw)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Waveform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Viewing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Waveform Generation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Debugging with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`waveform_example.v`: Comprehensive waveform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generation with different dump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Debugging with iverilog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Error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error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compilation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Missing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Include path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Debugging with iverilog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Runtime Error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Understanding runtime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value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Tracing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Debugging with iverilog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$display for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$monitor for continuous tracing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VCD file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value inspection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Strategies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Debugging with iverilog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Pitfalls and Solutions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Timescale issues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Signal initialization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Debugging with iverilog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Race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vs. non-blocking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mistakes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`debug_example.v`: Debugging techniques,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strategies,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iverilog Features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PLI/VPI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is PLI/VPI?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PLI/VPI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PLI/VPI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Limitations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 and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iverilog Features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system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system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vs.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User-Defined System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Creating custom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iverilog Features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iverilog Features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Speed optimization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Large Design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Compiling large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Incremental compilation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Advanced iverilog Features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partitioning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Basic Makefile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 targets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Dependency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Scripting for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Shell scripts for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processing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automation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Batch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Running multiple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Testing Setup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suite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 test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`module0/examples/iverilog_basics/and_gate_test.v`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Basic testbench structure,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driving, output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DUT instantiation,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application, response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Foundation for UVM environment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driver/monitor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`module1/examples/testbench_basics/mux_4to1_test.v`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Module-based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 tasks: `$display`, `$monitor`, `$strobe`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(timing differences)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Self-checking testbench (automatic pass/fail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detection)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logic testing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Stimulus generation, response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checking, signal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Patterns evolve into UVM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(stimulus) and scoreboards (checking)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`module1/examples/testbench_basics/counter_test.v`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generation with `always` blocks (essential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logic)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sequences (synchronous reset patterns)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Enable signal control (testing control signals)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logic testing (state machine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Clock generation, reset sequences,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Clock generation handled by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clocking blocks; reset sequences become UVM sequenc…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`module1/examples/file_io/file_read_test.v`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Reading test vectors from files (`$readmemh`,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`$readmemb`)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Writing results to files (`$fopen`, `$fwrite`,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`$fclose`)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File-based testbench patterns (scalable testing)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Separating test data from code,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automated test vector application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File-based testing evolves into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transaction-based verification where sequences gene…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 See compilation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(`module1/examples/compilation/`)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 Multi-file compilation, include paths,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library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Project organization, dependency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Multi-file organization is essential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UVM's component-based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Location: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`module1/tests/basic_tests/test_mux_4to1.v`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test tasks (modular test organization)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Comprehensive test coverage (multiple test patterns)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 pass/fail tracking (test statistics)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 (detailed failure messages)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result summary (overall test status)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Concepts: Task-based organization,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statistics, exit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Project Organization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Connection: Tasks evolve into UVM sequences;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statistics become UVM test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--check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Compilation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module1/examples/compilation &amp;&amp; make basic_compilation</a:t>
            </a:r>
          </a:p>
        </p:txBody>
      </p:sp>
      <p:pic>
        <p:nvPicPr>
          <p:cNvPr id="4" name="Picture 3" descr="ex01_compi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module1/examples/simulation &amp;&amp; make all</a:t>
            </a:r>
          </a:p>
        </p:txBody>
      </p:sp>
      <p:pic>
        <p:nvPicPr>
          <p:cNvPr id="4" name="Picture 3" descr="ex02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module1/examples/testbench_basics &amp;&amp; make all</a:t>
            </a:r>
          </a:p>
        </p:txBody>
      </p:sp>
      <p:pic>
        <p:nvPicPr>
          <p:cNvPr id="4" name="Picture 3" descr="ex03_testbench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File I/O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module1/examples/file_io &amp;&amp; make all</a:t>
            </a:r>
          </a:p>
        </p:txBody>
      </p:sp>
      <p:pic>
        <p:nvPicPr>
          <p:cNvPr id="4" name="Picture 3" descr="ex04_file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Waveforms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module1/examples/waveforms &amp;&amp; make all</a:t>
            </a:r>
          </a:p>
        </p:txBody>
      </p:sp>
      <p:pic>
        <p:nvPicPr>
          <p:cNvPr id="4" name="Picture 3" descr="ex05_wave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Debugging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module1/examples/debugging &amp;&amp; make all</a:t>
            </a:r>
          </a:p>
        </p:txBody>
      </p:sp>
      <p:pic>
        <p:nvPicPr>
          <p:cNvPr id="4" name="Picture 3" descr="ex06_debugg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compile Verilog designs with various iverilog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execute simulations with vvp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complete Verilog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file I/O in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generate and view waveforms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debug compilation and simulation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iverilog for Verilog/SystemVerilog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development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./scripts/module1.sh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learn_verilator_iverilog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