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iverilog links TB + counter_4bit.v; vvp runs event-driven simulation.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always #half clk=~clk; reset sequence in initial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RTL verified by both Verilog and C++ testbench paradigms.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— execution and artifact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Follow this order when tracing waveforms or debugging.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Follow this order when tracing waveforms or debugging.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cd module3/examples/cpp_testbenches &amp;&amp; make counter_test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new Vcounter_4bit; drive rst_n low; eval loop verifies count==0.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Side-by-side: initial blocks vs eval loop; same pass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module3/examples/verilog_testbenches/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module3/examples/cpp_testbenches/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module3/examples/comparison/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Key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Key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Key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Key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Key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Key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Key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Key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Key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Key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Key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Key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Key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Key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Key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Key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Key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Key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Key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Key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Key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Key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Key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Key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Key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Key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Key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Key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Key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Key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Key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Key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Key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Key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Key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Key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Key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Key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Key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3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Testbench Fundamentals (Verilog and C++)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testbench architecture and basic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 concepts for both Verilog and C++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Understand testbench architecture and basic verification concepts for both Verilog and C++ testbenches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introduces the fundamental concepts of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 design for both Verilog (iverilog) and…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Canonical testbench–DUT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DUT: Device Under Test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`module3/dut/` (gates,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multiplexers, counters)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TB wrapper: Encapsulates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instantiation, clock/reset,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 program only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Signals: Explicit wires/regs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(Verilog) or model ports (C++)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no hidden coupling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Lifecycle: Build → reset → run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tests → report → `$finish` /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`return` exit code</a:t>
            </a:r>
          </a:p>
        </p:txBody>
      </p:sp>
      <p:pic>
        <p:nvPicPr>
          <p:cNvPr id="4" name="Picture 3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Dual-paradigm environment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 TB (`examples/verilog_te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stbenches/`): Event-driven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`initial`/`always`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 TB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(`examples/cpp_testbenches/`):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`eval()` loop with Verilator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Shared DUT: Same RTL verified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two ways — highlights tool-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specific TB idioms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Comparison guide: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`examples/comparison/` documents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mapping between styles</a:t>
            </a:r>
          </a:p>
        </p:txBody>
      </p:sp>
      <p:pic>
        <p:nvPicPr>
          <p:cNvPr id="4" name="Picture 3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Verification component roles (UVM-aligned)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Driver: Applies stimulus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(assignments before `eval`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`#delay`)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Monitor: Samples outputs; logs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 or pin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Scoreboard: Compares actual vs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expected; increments pass/fail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Clock/reset agents: Reusable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blocks generating periodic clock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reset sequences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RTL block diagram (reference)</a:t>
            </a:r>
          </a:p>
        </p:txBody>
      </p:sp>
      <p:pic>
        <p:nvPicPr>
          <p:cNvPr id="3" name="Picture 2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3: DUT hierarchy and signal flow.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Verification / testbench diagram (reference)</a:t>
            </a:r>
          </a:p>
        </p:txBody>
      </p:sp>
      <p:pic>
        <p:nvPicPr>
          <p:cNvPr id="3" name="Picture 2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3: stimulus, observation, and checking.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Verilog TB Makefile — counter_test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counter_test: counter_test.v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@echo "=== Compiling counter_test ==="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$(IVERILOG) -o counter_test counter_test.v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$(DUT_DIR_MODULE1)/counters/counter_4bit.v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@echo "=== Running simulation ==="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$(VVP) counter_test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Verilog TB — clock and reset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module counter_test;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//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========================================================================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// TESTBENCH SIGNAL DECLARATIONS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//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========================================================================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// Clock signal - driven by always block (continuous clock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generation)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reg       clk;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// Reset signal (active-low: 0 = reset, 1 = normal operation)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// Active-low resets are common in digital design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reg       rst_n;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// Enable signal (1 = count, 0 = hold current value)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reg       en;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Shared DUT — counter_4bit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/**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4-bit Counter Design Under Test (DUT)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This is a synchronous 4-bit counter with reset and enable, used for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learning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testbench development. This module demonstrates sequential logic,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which requires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clock-based testbench patterns and is more complex to verify than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combinational logic.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Verification Context: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- Sequential logic requires clock generation and timing control in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testbenches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- Demonstrates reset sequences, enable control, and state observation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- In UVM, sequential logic like counters are used to learn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transaction-based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  verification, clocking blocks, and sequence generation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- This counter can count from 0 to 15 (2^4 - 1), then wraps to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Execution &amp; simulation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How the example runs (toolchain)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Makefile: Verilator compiles RTL + SystemVerilog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 into a C++ model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sim_main.cpp: generates clk/rst_n, calls eval()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until $finish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Directed test (initial block or C++): drive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stimulus, wait for DUT flags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Self-check: compare outputs; print PASS/FAIL (see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terminal demo slide)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Repo path: module3/examples/&lt;example&gt;/ — run make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run from that directory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Directed test execution sequence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Both paradigms count errors locally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same PASS criteria without manual waveform grading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Instantiate DUT in Verilog TB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iverilog compile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Directed test execution sequence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repeat with C++ TB and Verilator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comparison/ mapping guide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cd module3/examples/verilog_testbenches &amp;&amp; make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counter_test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C++ TB Makefile — Verilator 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counter_test: counter_test.cpp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@echo "=== Compiling counter_test ==="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$(VERILATOR) $(VERILATOR_FLAGS) -I$(DUT_DIR_MODULE1)/counters \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    $(DUT_DIR_MODULE1)/counters/counter_4bit.v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counter_test.cpp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@echo "=== Running simulation ==="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./obj_dir/Vcounter_4bit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C++ TB — DUT init and reset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int main(int argc, char** argv) {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//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========================================================================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// VERILATOR INITIALIZATION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//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========================================================================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Verilated::commandArgs(argc, argv);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//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========================================================================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// TEST HEADER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//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========================================================================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std::cout &lt;&lt; "========================================" &lt;&lt;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std::endl;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std::cout &lt;&lt; "4-bit Counter C++ Testbench" &lt;&lt; std::endl;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std::cout &lt;&lt; "========================================" &lt;&lt;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std::endl;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Structured test flow (build–connect–run)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Build: Compile RTL + TB;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elaborate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Connect: Port map DUT; tie off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unused inputs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Run: Execute directed cases (AND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truth table, counter wrap, MUX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exhaust)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Cleanup: Close files, print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summary, non-zero exit 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failure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Directed and exhaustive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Truth-table tests: All input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combinations for small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combinational DUTs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 tests: Known count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sequences after reset deassert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Assertions: `assert` (C++)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immediate checks (Verilog) 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each vector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Cross-paradigm verification discipline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Same spec, two TBs: Document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expected behavior once;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implement in Verilog and C++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Self-checking: Both paradigms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count errors locally — no manual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waveform grading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Orchestration: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`./scripts/module3.sh --verilog-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testbenches` vs `--cpp-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testbenches`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Paradigm comparison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// missing source file: module3/examples/comparison/README.md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Protocol &amp; design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Verification Fundamentals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is verification?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Ensuring design correctness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Finding bugs before production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vs. validation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Purpose and Role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Stimulus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Verification Fundamentals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Response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as verification environment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 Under Test (DUT) Concept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is DUT?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instantiation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Verification Fundamentals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vs. Validation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Verification: Does it work correctly?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Validation: Does it meet requirements?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Differences and overlap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Verification Fundamentals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Flow and Methodology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plan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development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 Testbench vs. C++ Testbench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Verification Fundamentals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Similarities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Differences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 to use each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Performance considerations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Testbench Architecture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 Testbench Module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declaration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declarations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instantiation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sequence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Module-based organization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Testbench Architecture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 Testbench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Main function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initialization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instantiation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sequence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Class-based organization (optional)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Testbench Architecture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Instantiation (Both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Verilog: Module instantiation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C++: Object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connectivity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Port mapping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Connectivity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Testbench Architecture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Input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Output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Bidirectional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naming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Top-level testbench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Testbench Architecture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Organization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Top-Level Testbench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Single testbench file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file organization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Testbench Architecture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Include files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Library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`module3/examples/verilog_testbenches/` - 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`module3/examples/cpp_testbenches/` - C++ testbench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Basic Testbench Components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Generation (Verilog and C++)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Verilog: Always blocks for continuous clock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C++: Simulation loop for clock toggling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period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clocks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Generation (Verilog and C++)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Basic Testbench Components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Verilog: Initial blocks for reset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C++: Reset in C++ code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Synchronous reset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Asynchronous reset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Stimulus Generation (Both Paradigms)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Basic Testbench Components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vector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 application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 stimulus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Response Monitoring (Both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Output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Basic Testbench Components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Real-time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Post-processing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Monitoring strategies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Checking (Both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Expected value calculation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Output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Basic Testbench Components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detection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Pass/fail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Simulation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Starting simulation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Stopping simulation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Simulation termination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Basic Testbench Components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Control flow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`counter_test.v` / `counter_test.cpp` - Clock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reset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Signal Access and Monitoring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Verilog: Signal Reading and Writing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Direct signal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assignment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reading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C++: Signal Access via Verilator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Signal Access and Monitoring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object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reading: `dut-&gt;signal`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writing: `dut-&gt;signal = value`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Verilog: $display, $monitor, $strobe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`$display`: Immediate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Signal Access and Monitoring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`$monitor`: Continuous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`$strobe`: End-of-time-step output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Formatting options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C++: std::cout, Logging Libraries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`std::cout` for output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Formatting with iomanip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Signal Access and Monitoring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Logging libraries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File output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Formatting Output (Both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Verilog: Format specifiers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C++: Stream manipulators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Table formatting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Signal Access and Monitoring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Readable output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of Display Statements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 output occurs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scheduling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considerations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Debugging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Simulation Control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Verilog: Time Management (# delays)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Delay control: `#10`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Time advancement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scheduling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accuracy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C++: Time Management (Simulation Loop)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Simulation Control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Simulation loop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Time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cycle counting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Time advancement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Scheduling Concepts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Event-driven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Simulation Control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queue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Scheduling order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relationships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Simulation Termination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Verilog: `$finish`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C++: `return`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Simulation Control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Cleanup procedures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Resource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Debugging Basics (Both Tools)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Compilation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Runtime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inspection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Simulation Control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Waveform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`counter_test.v` / `counter_test.cpp` - 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Simple Verification Patterns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Directed Testing (Both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Specific test cases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Known input/output pairs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Exhaustive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Corner case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Vector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Simple Verification Patterns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vector format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Vector application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 application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Batch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Expected vs. Actual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Expected value calculation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Simple Verification Patterns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Actual value reading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Comparison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detection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Pass/Fail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result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Pass/fail determination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Simple Verification Patterns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Summary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Basic Error Detection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detection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Simple Verification Patterns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Debugging aids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Paradigm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Side-by-Side 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3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./scripts/module3.sh --help</a:t>
            </a:r>
          </a:p>
        </p:txBody>
      </p:sp>
      <p:pic>
        <p:nvPicPr>
          <p:cNvPr id="4" name="Picture 3" descr="module3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./scripts/module3.sh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Verilog testbenches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module3/examples/verilog_testbenches &amp;&amp; make all</a:t>
            </a:r>
          </a:p>
        </p:txBody>
      </p:sp>
      <p:pic>
        <p:nvPicPr>
          <p:cNvPr id="4" name="Picture 3" descr="ex01_verilog_testbench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C++ testbenches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ls -la module3/examples/cpp_testbenches</a:t>
            </a:r>
          </a:p>
        </p:txBody>
      </p:sp>
      <p:pic>
        <p:nvPicPr>
          <p:cNvPr id="4" name="Picture 3" descr="ex02_cpp_testbench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Paradigm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ls -la module3/examples/comparison</a:t>
            </a:r>
          </a:p>
        </p:txBody>
      </p:sp>
      <p:pic>
        <p:nvPicPr>
          <p:cNvPr id="4" name="Picture 3" descr="ex03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Key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Canonical testbench–DUT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DUT: Device Under Test in `module3/dut/` (gates,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multiplexers, counters)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TB wrapper: Encapsulates instantiation, clock/reset,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test program only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Signals: Explicit wires/regs (Verilog) or model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ports (C++) — no hidden coupling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Lifecycle: Build → reset → run tests → report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`$finish` / `return` exit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Dual-paradigm environment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 TB (`examples/verilog_testbenches/`): Event-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driven `initial`/`always`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 TB (`examples/cpp_testbenches/`): `eval()` loop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with Verilator model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Shared DUT: Same RTL verified two ways — highlights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tool-specific TB idioms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Comparison guide: `examples/comparison/` documents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mapping between styles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Verification component roles (UVM-aligned)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Driver: Applies stimulus (assignments before `eval`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or `#delay`)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Monitor: Samples outputs; logs transactions or pin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Scoreboard: Compares actual vs expected; increments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pass/fail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Clock/reset agents: Reusable blocks generating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periodic clock and reset sequences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Structured test flow (build–connect–run)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Build: Compile RTL + TB; elaborate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Connect: Port map DUT; tie off unused inputs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Run: Execute directed cases (AND truth table,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counter wrap, MUX exhaust)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Cleanup: Close files, print summary, non-zero exit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on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Directed and exhaustive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Truth-table tests: All input combinations for small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combinational DUTs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 tests: Known count sequences after reset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deassert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Assertions: `assert` (C++) or immediate checks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(Verilog) on each vector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Cross-paradigm verification discipline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Same spec, two TBs: Document expected behavior once;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implement in Verilog and C++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Self-checking: Both paradigms count errors locally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no manual waveform grading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Orchestration: `./scripts/module3.sh --verilog-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testbenches` vs `--cpp-testbenches`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Verification Fundamentals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is verification?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Ensuring design correctness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Finding bugs before production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vs. validation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Purpose and Role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Stimulus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Verification Fundamentals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Response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as verification environment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 Under Test (DUT) Concept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is DUT?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instantiation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Verification Fundamentals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vs. Validation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Verification: Does it work correctly?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Validation: Does it meet requirements?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Differences and overlap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Verification Fundamentals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Flow and Methodology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plan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development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 Testbench vs. C++ Testbench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Verification Fundamentals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Similarities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Differences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 to use each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Performance considerations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Testbench Architecture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 Testbench Module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declaration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declarations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instantiation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sequence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Module-based organization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Testbench Architecture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 Testbench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Main function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initialization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instantiation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sequence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Class-based organization (optional)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Testbench Architecture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Instantiation (Both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Verilog: Module instantiation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C++: Object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connectivity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Port mapping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Connectivity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Testbench Architecture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Input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Output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Bidirectional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naming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Top-level testbench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Testbench Architecture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Organization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Top-Level Testbench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Single testbench file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file organization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Testbench Architecture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Include files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Library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`module3/examples/verilog_testbenches/` - 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`module3/examples/cpp_testbenches/` - C++ testbench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Basic Testbench Components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Generation (Verilog and C++)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Verilog: Always blocks for continuous clock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C++: Simulation loop for clock toggling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period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clocks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Generation (Verilog and C++)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Basic Testbench Components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Verilog: Initial blocks for reset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C++: Reset in C++ code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Synchronous reset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Asynchronous reset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Stimulus Generation (Both Paradigms)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Basic Testbench Components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vector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 application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 stimulus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Response Monitoring (Both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Output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Basic Testbench Components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Real-time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Post-processing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Monitoring strategies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Checking (Both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Expected value calculation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Output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Basic Testbench Components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detection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Pass/fail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Simulation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Starting simulation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Stopping simulation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Simulation termination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Basic Testbench Components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Control flow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`counter_test.v` / `counter_test.cpp` - Clock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reset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Signal Access and Monitoring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Verilog: Signal Reading and Writing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Direct signal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assignment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reading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C++: Signal Access via Verilator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Signal Access and Monitoring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object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reading: `dut-&gt;signal`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writing: `dut-&gt;signal = value`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Verilog: $display, $monitor, $strobe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`$display`: Immediate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Signal Access and Monitoring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`$monitor`: Continuous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`$strobe`: End-of-time-step output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Formatting options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C++: std::cout, Logging Libraries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`std::cout` for output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Formatting with iomanip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Signal Access and Monitoring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Logging libraries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File output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Formatting Output (Both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Verilog: Format specifiers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C++: Stream manipulators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Table formatting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Signal Access and Monitoring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Readable output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of Display Statements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 output occurs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scheduling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considerations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Debugging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Simulation Control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Verilog: Time Management (# delays)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Delay control: `#10`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Time advancement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scheduling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accuracy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C++: Time Management (Simulation Loop)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Simulation Control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Simulation loop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Time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cycle counting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Time advancement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Scheduling Concepts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Event-driven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Simulation Control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queue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Scheduling order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relationships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Simulation Termination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Verilog: `$finish`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C++: `return`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Simulation Control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Cleanup procedures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Resource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Debugging Basics (Both Tools)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Compilation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Runtime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inspection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Simulation Control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Waveform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`counter_test.v` / `counter_test.cpp` - 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Simple Verification Patterns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Directed Testing (Both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Specific test cases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Known input/output pairs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Exhaustive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Corner case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Vector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Simple Verification Patterns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vector format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Vector application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 application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Batch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Expected vs. Actual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Expected value calculation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Simple Verification Patterns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Actual value reading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Comparison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detection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Pass/Fail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result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Pass/fail determination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Simple Verification Patterns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Summary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Basic Error Detection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detection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Simple Verification Patterns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Debugging aids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Paradigm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docs/MODULE3.md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(1/8)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testbench purpose and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basic Verilog testbench modules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basic C++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Generate clocks and resets in both paradigms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Apply stimulus to DUT (both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DUT outputs (both paradigms)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(2/8)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Perform basic result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Control simulation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Choose appropriate testbench paradigm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`and_gate_test.v` as reference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all input combinations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 correct operation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(3/8)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`and_gate_test.cpp` as reference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Compare with Verilog version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differences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Verilog testbench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C++ testbench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Compare approaches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(4/8)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clock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reset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Compare timing approaches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comparison guide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when to use each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Identify key differences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(5/8)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explain testbench purpose and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create basic Verilog testbench modules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create basic C++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generate clocks and resets (both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apply stimulus to DUT (both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monitor DUT outputs (both paradigms)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(6/8)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perform basic result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control simulation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choose appropriate testbench paradigm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Prerequisites: [Module 1: iverilog Deep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Dive](MODULE1.md) and [Module 2: Verilator Deep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Dive](MODUL…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 Steps: [Module 4: Basic Testbench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Construction](MODULE4.md) - Master structured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 cons…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Advanced: [Module 6: SystemVerilog Testbench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Features](MODULE6.md) - Advanced testbench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(7/8)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Connection: [UVM Core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Repository](https://github.com/universal-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verification-methodology/core)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4: Basic Testbench Construction - Master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structured testbench construction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5: Procedural Testbench Writing - Learn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procedural testbench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Icarus Verilog Documentation: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http://iverilog.wikia.com/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Documentation: https://verilator.org/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GTKWave Documentation: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http://gtkwave.sourceforge.net/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(8/8)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IEEE 1364-2005 Standard: Verilog Hardware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Description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explain testbench purpose and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create basic Verilog testbench modules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create basic C++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generate clocks and resets (both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apply stimulus to DUT (both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monitor DUT outputs (both paradigms)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testbench architecture and basic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 concepts for both Verilog and C++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module3/CHECKLIST.md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module3/EXAMPLES.md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