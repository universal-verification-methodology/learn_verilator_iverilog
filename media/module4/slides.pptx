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Parameterize period; compile and vvp in one make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forever #(PERIOD/2) clk=~clk; coordinated reset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simple_alu instantiated; wires for a, b, op, result,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 module4/examples/self_checking &amp;&amp; 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calculate_expected(op,a,b) — golden model in TB.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stimulus, monitor, and checker blocks wired at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module4/examples/clock_reset/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module4/examples/self_checking/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module4/examples/stimulus_monitoring/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module4/examples/modular_testbenches/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Basic Testbench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construction of structured testbenches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proper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construction of structured testbenches with proper organization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focuses on building well-structured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 for both Verilog and C++ paradigms. You…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Structured DUT portfolio (Module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`dut/alus/simple_alu.v`: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ALU — op select,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result, zero flag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`dut/fifos/simple_fifo.v`: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storage with full/empty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pointer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`dut/registers/register_file.v`: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Multi-port register file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read/write ports, clocked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updates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Complexity step: Moves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gates/counters to datapath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blocks needing organized TBs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Modular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Separation: Stimulus generator,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monitor, checker/scoreboard 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distinct modules or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Clock/reset generator: Dedicated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 (`clock_reset` examples)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period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Hierarchy: Top TB instantiates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agents + DUT; connects via named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 (wires)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mirror: Same roles as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 with methods `drive()`,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`sample()`, `check()`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Reference model 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Golden model: Software replica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 ALU/FIFO/register behavior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Self-checking path: DUT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compared to reference each 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Config: Parameters for width,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depth, and clock period without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editing DUT RTL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4: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4: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Clock/reset Makefile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configurable_clock_reset_verilog: configurable_clock_reset_verilog.v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Compiling Verilog clock/reset example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$(IVERILOG) -o configurable_clock_reset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configurable_clock_reset_verilog.v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Running simulation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$(VVP) configurable_clock_reset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Configurable clock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parameter CLK_PERIOD_1 = 20;  // 20ns period = 50MHz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parameter CLK_PERIOD_2 = 40;  // 40ns period = 25MHz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parameter RST_DURATION = 100; // Reset duration in ns (5 clock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cycles at 50MHz)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Signal Declarations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Clock Signals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Two independent clock signals for multi-clock domain testing.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Each clock has its own period and runs independently.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clk1;  // Clock 1 (50MHz by default)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clk2;  // Clock 2 (25MHz by default)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Self-checking ALU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alu_self_checking_verilog;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Signal Declarations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DUT Input Signals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These signals drive the ALU inputs.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[7:0] a, b;    // Operands A and B (8 bits each)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[1:0] op;     // Operation code (00=ADD, 01=SUB, 10=AND, 11=OR)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DUT Output Signals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module4/examples/&lt;example&gt;/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 in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each 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aggregate pass/fail before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clk/rst generators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 DUT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 ALU/FIFO vectors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 compare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wire agents at 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Self-checking example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Makefile for self-checking testbench examples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IVERILOG = iverilog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VVP = vvp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= verilator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DUT_DIR = ../../../module4/dut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all: alu_self_checking_verilog alu_self_checking_cpp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alu_self_checking_verilog: alu_self_checking_verilog.v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Compiling Verilog self-checking testbench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$(IVERILOG) -o alu_self_checking alu_self_checking_verilog.v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$(DUT_DIR)/alus/simple_alu.v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Running simulation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$(VVP) alu_self_checking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alu_self_checking_cpp: alu_self_checking_cpp.cpp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Reference model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Design Under Test (DUT)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Instantiate the ALU module being verified.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All signals are connected by name for clarity.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simple_alu dut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.a(a),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.b(b),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.op(op),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.result(result),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.zero(zero)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Reference Model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Component-level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module: Encapsulates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write sequences to FIFO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module: Captures 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data and status flags passively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Checker: Flags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violations (overflow, X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outputs, wrong opcode result)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Scenario-based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Scenarios: Reset + fill FIFO;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ALU op sweep; register R/W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hazard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Tasks/methods: Each scenario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 callable task —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across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Aggregation: Single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summarizing scenarios run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failures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Structured debug and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Modular debug: Isolate failing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by disabling others in top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on demand: Trigger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dumps only when checker fires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`./scripts/module4.sh --self-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checking` and `--all-tests`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batch sign-off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Modular TB — checker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Modular Register File Verilog Testbench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This testbench demonstrates the UVM-inspired separation of concerns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pattern,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where testbench functionality is divided into distinct, reusable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components: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Stimulus Generator: Drives inputs to the DUT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Monitor: Observes and logs DUT behavior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Checker: Validates DUT outputs against expected values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Learning Objectives: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Understand modular testbench architecture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Learn separation of concerns in verification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Master Verilog module-based testbench organization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Understand stimulus generation patterns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Learn monitoring and checking strategies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Organization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Modular Testbench Structure (Verilog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Separating concerns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Component-based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 principles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Stimulus, Monitor, and Checker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Organization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 module/class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monitoring module/class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 module/class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Module-Based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Organization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Class-Based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Organization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placement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routing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Organization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Testbench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Reuse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Organization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and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passing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`register_file_test_verilog.v`: Structured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with separate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Organization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`register_file_test_cpp.cpp`: Structured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with separate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and Reset Generation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Clock Generation Patterns (Always Blocks)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Configurable periods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Clock Generation Patterns (Simulation Loop)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and Reset Generation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toggling in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Configurable periods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Configurable Clock Periods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Parameter-based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and Reset Generation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period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Frequency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Independent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and Reset Generation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Domain crossing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Generation (Synchronous, Asynchronous)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and Reset Generation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Reset in Initial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block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and Reset Generation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Reset in C++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in simulation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 and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and Reset Generation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deassertion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and Reset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Clock/reset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and Reset Generation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`configurable_clock_reset_verilog.v`: Configurable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and reset in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`configurable_clock_reset_cpp.cpp`: Configurable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and reset in C++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Stimulus Generation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Stimulus Generation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Stimulus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Stimulus Generation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Application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Stimulus Generation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Stimulus Generation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Response Monitoring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Monitoring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Real-time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Post-processing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Event-driven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Real-Time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Response Monitoring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Live updates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Real-time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considerations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Post-Processing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Response Monitoring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Batch processing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Monitoring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Response Monitoring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Event-Driven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triggers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Event-based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Response Monitoring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Result Checking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Value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value computation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Calculation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Result Checking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Value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Result Checking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Assertion-Based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Result Checking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Self-Checking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Automatic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Result Checking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determination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`alu_self_checking_verilog.v`: Self-checking ALU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`alu_self_checking_cpp.cpp`: Self-checking ALU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 C++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Scenarios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Test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Scenarios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Scenario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Scenario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Scenario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Scenario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Scenarios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 Mechanisms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filtering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Scenarios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prioritization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Result Aggregation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Scenarios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`module4/examples/modular_testbenches/regi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ster_file_test_verilog.v`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Modular structure, separate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stimulus/monitor/checker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`module4/examples/modular_testbenches/regi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ster_file_test_cpp.cpp`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Class-based organization, separate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stimulus/monitor/checker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(Coming soon)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Scenarios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Multiple test scenarios,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(Coming soon)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Multiple test scenarios,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`module4/examples/self_checking/`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Self-checking testbenches,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comprehensive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(Coming soon)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Scenarios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State machine testing, state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`module4/examples/clock_reset/`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Configurable clock/reset,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4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--help</a:t>
            </a:r>
          </a:p>
        </p:txBody>
      </p:sp>
      <p:pic>
        <p:nvPicPr>
          <p:cNvPr id="4" name="Picture 3" descr="module4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Clock and reset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module4/examples/clock_reset &amp;&amp; make all</a:t>
            </a:r>
          </a:p>
        </p:txBody>
      </p:sp>
      <p:pic>
        <p:nvPicPr>
          <p:cNvPr id="4" name="Picture 3" descr="ex01_clock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Self-checking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module4/examples/self_checking &amp;&amp; make all</a:t>
            </a:r>
          </a:p>
        </p:txBody>
      </p:sp>
      <p:pic>
        <p:nvPicPr>
          <p:cNvPr id="4" name="Picture 3" descr="ex02_self_che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Stimulus and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module4/examples/stimulus_monitoring &amp;&amp; make all</a:t>
            </a:r>
          </a:p>
        </p:txBody>
      </p:sp>
      <p:pic>
        <p:nvPicPr>
          <p:cNvPr id="4" name="Picture 3" descr="ex03_stimulus_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Modular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module4/examples/modular_testbenches &amp;&amp; make all</a:t>
            </a:r>
          </a:p>
        </p:txBody>
      </p:sp>
      <p:pic>
        <p:nvPicPr>
          <p:cNvPr id="4" name="Picture 3" descr="ex04_modular_testben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Mixing Concerns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Don't combine stimulus and checking in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module/class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Don't drive signals from monitor or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Hardcoded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parameters/constants for timing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magic numbers in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Insufficient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Don't rely on manual inspection of waveforms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implement automatic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Poor Error Messages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enough context to debug failures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consistent error message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Inadequate Documentation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component purpose and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complex logic and timing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testbenches modularly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clocks and resets properly (Verilog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structured stimulus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monitoring strategies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self-checking testbenches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multiple test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Choose appropriate organization 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stimulus, monitor, and checker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components properly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class-based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stimulus, monitor, and checker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with Verilog approach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clock period configurable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different configurations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test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test sequencing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Aggregate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Calculate expected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automatically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reusable modules/classes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testbenches modularly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configurable clocks and resets (Verilog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structured stimulus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monitoring strategies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build self-checking testbenches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multiple test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choose appropriate organization 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5: Procedural Testbench Writing - Master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procedural testbench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6: SystemVerilog Testbench Features - Learn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enhancements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Keep stimulus, monitoring, and checking separate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component should have a single, well-defined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makes testbenches easier to understand,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maintain, and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components to be reusable across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parameters/configuration for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library components for common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(clocks, resets,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implement automatic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reference models to calculate expected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 pass/fail status clearly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Comment code thoroughly, especially complex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component interfaces and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usage examples in comments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clear, informative error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context (time, signal values, expected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Aggregate errors for summary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Don't combine stimulus and checking in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module/class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Don't drive signals from monitor or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parameters/constants for timing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magic numbers in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Don't rely on manual inspection of waveforms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implement automatic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enough context to debug failures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consistent error message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component purpose and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complex logic and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Icarus Verilog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http://iverilog.wikia.com/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Documentation: https://verilator.org/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http://gtkwave.sourceforge.net/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Core Repository: https://github.com/universal-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verification-methodology/core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User's Guide: IEEE 1800.2-2020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Methodology: Best practices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industry verification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testbenches modularly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configurable clocks and resets (Verilog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structured stimulus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monitoring strategies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build self-checking testbenches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multiple test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construction of structured testbenches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proper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module4/CHECKLIST.md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module4/EXAMPLES.md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