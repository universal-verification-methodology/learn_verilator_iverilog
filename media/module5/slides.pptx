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54.xml" ContentType="application/vnd.openxmlformats-officedocument.presentationml.notesSlide+xml"/>
  <Override PartName="/ppt/notesSlides/notesSlide55.xml" ContentType="application/vnd.openxmlformats-officedocument.presentationml.notesSlide+xml"/>
  <Override PartName="/ppt/notesSlides/notesSlide56.xml" ContentType="application/vnd.openxmlformats-officedocument.presentationml.notesSlide+xml"/>
  <Override PartName="/ppt/notesSlides/notesSlide57.xml" ContentType="application/vnd.openxmlformats-officedocument.presentationml.notesSlide+xml"/>
  <Override PartName="/ppt/notesSlides/notesSlide58.xml" ContentType="application/vnd.openxmlformats-officedocument.presentationml.notesSlide+xml"/>
  <Override PartName="/ppt/notesSlides/notesSlide59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60.xml" ContentType="application/vnd.openxmlformats-officedocument.presentationml.notesSlide+xml"/>
  <Override PartName="/ppt/notesSlides/notesSlide61.xml" ContentType="application/vnd.openxmlformats-officedocument.presentationml.notesSlide+xml"/>
  <Override PartName="/ppt/notesSlides/notesSlide62.xml" ContentType="application/vnd.openxmlformats-officedocument.presentationml.notesSlide+xml"/>
  <Override PartName="/ppt/notesSlides/notesSlide63.xml" ContentType="application/vnd.openxmlformats-officedocument.presentationml.notesSlide+xml"/>
  <Override PartName="/ppt/notesSlides/notesSlide64.xml" ContentType="application/vnd.openxmlformats-officedocument.presentationml.notesSlide+xml"/>
  <Override PartName="/ppt/notesSlides/notesSlide65.xml" ContentType="application/vnd.openxmlformats-officedocument.presentationml.notesSlide+xml"/>
  <Override PartName="/ppt/notesSlides/notesSlide66.xml" ContentType="application/vnd.openxmlformats-officedocument.presentationml.notesSlide+xml"/>
  <Override PartName="/ppt/notesSlides/notesSlide67.xml" ContentType="application/vnd.openxmlformats-officedocument.presentationml.notesSlide+xml"/>
  <Override PartName="/ppt/notesSlides/notesSlide68.xml" ContentType="application/vnd.openxmlformats-officedocument.presentationml.notesSlide+xml"/>
  <Override PartName="/ppt/notesSlides/notesSlide69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70.xml" ContentType="application/vnd.openxmlformats-officedocument.presentationml.notesSlide+xml"/>
  <Override PartName="/ppt/notesSlides/notesSlide71.xml" ContentType="application/vnd.openxmlformats-officedocument.presentationml.notesSlide+xml"/>
  <Override PartName="/ppt/notesSlides/notesSlide72.xml" ContentType="application/vnd.openxmlformats-officedocument.presentationml.notesSlide+xml"/>
  <Override PartName="/ppt/notesSlides/notesSlide73.xml" ContentType="application/vnd.openxmlformats-officedocument.presentationml.notesSlide+xml"/>
  <Override PartName="/ppt/notesSlides/notesSlide74.xml" ContentType="application/vnd.openxmlformats-officedocument.presentationml.notesSlide+xml"/>
  <Override PartName="/ppt/notesSlides/notesSlide75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slides/slide75.xml" ContentType="application/vnd.openxmlformats-officedocument.presentationml.slide+xml"/>
  <Override PartName="/ppt/slides/slide76.xml" ContentType="application/vnd.openxmlformats-officedocument.presentationml.slide+xml"/>
  <Override PartName="/ppt/slides/slide77.xml" ContentType="application/vnd.openxmlformats-officedocument.presentationml.slide+xml"/>
  <Override PartName="/ppt/slides/slide78.xml" ContentType="application/vnd.openxmlformats-officedocument.presentationml.slide+xml"/>
  <Override PartName="/ppt/slides/slide79.xml" ContentType="application/vnd.openxmlformats-officedocument.presentationml.slide+xml"/>
  <Override PartName="/ppt/slides/slide8.xml" ContentType="application/vnd.openxmlformats-officedocument.presentationml.slide+xml"/>
  <Override PartName="/ppt/slides/slide80.xml" ContentType="application/vnd.openxmlformats-officedocument.presentationml.slide+xml"/>
  <Override PartName="/ppt/slides/slide81.xml" ContentType="application/vnd.openxmlformats-officedocument.presentationml.slide+xml"/>
  <Override PartName="/ppt/slides/slide82.xml" ContentType="application/vnd.openxmlformats-officedocument.presentationml.slide+xml"/>
  <Override PartName="/ppt/slides/slide83.xml" ContentType="application/vnd.openxmlformats-officedocument.presentationml.slide+xml"/>
  <Override PartName="/ppt/slides/slide84.xml" ContentType="application/vnd.openxmlformats-officedocument.presentationml.slide+xml"/>
  <Override PartName="/ppt/slides/slide85.xml" ContentType="application/vnd.openxmlformats-officedocument.presentationml.slide+xml"/>
  <Override PartName="/ppt/slides/slide86.xml" ContentType="application/vnd.openxmlformats-officedocument.presentationml.slide+xml"/>
  <Override PartName="/ppt/slides/slide87.xml" ContentType="application/vnd.openxmlformats-officedocument.presentationml.slide+xml"/>
  <Override PartName="/ppt/slides/slide88.xml" ContentType="application/vnd.openxmlformats-officedocument.presentationml.slide+xml"/>
  <Override PartName="/ppt/slides/slide89.xml" ContentType="application/vnd.openxmlformats-officedocument.presentationml.slide+xml"/>
  <Override PartName="/ppt/slides/slide9.xml" ContentType="application/vnd.openxmlformats-officedocument.presentationml.slide+xml"/>
  <Override PartName="/ppt/slides/slide90.xml" ContentType="application/vnd.openxmlformats-officedocument.presentationml.slide+xml"/>
  <Override PartName="/ppt/slides/slide9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  <p:sldId id="282" r:id="rId34"/>
    <p:sldId id="283" r:id="rId35"/>
    <p:sldId id="284" r:id="rId36"/>
    <p:sldId id="285" r:id="rId37"/>
    <p:sldId id="286" r:id="rId38"/>
    <p:sldId id="287" r:id="rId39"/>
    <p:sldId id="288" r:id="rId40"/>
    <p:sldId id="289" r:id="rId41"/>
    <p:sldId id="290" r:id="rId42"/>
    <p:sldId id="291" r:id="rId43"/>
    <p:sldId id="292" r:id="rId44"/>
    <p:sldId id="293" r:id="rId45"/>
    <p:sldId id="294" r:id="rId46"/>
    <p:sldId id="295" r:id="rId47"/>
    <p:sldId id="296" r:id="rId48"/>
    <p:sldId id="297" r:id="rId49"/>
    <p:sldId id="298" r:id="rId50"/>
    <p:sldId id="299" r:id="rId51"/>
    <p:sldId id="300" r:id="rId52"/>
    <p:sldId id="301" r:id="rId53"/>
    <p:sldId id="302" r:id="rId54"/>
    <p:sldId id="303" r:id="rId55"/>
    <p:sldId id="304" r:id="rId56"/>
    <p:sldId id="305" r:id="rId57"/>
    <p:sldId id="306" r:id="rId58"/>
    <p:sldId id="307" r:id="rId59"/>
    <p:sldId id="308" r:id="rId60"/>
    <p:sldId id="309" r:id="rId61"/>
    <p:sldId id="310" r:id="rId62"/>
    <p:sldId id="311" r:id="rId63"/>
    <p:sldId id="312" r:id="rId64"/>
    <p:sldId id="313" r:id="rId65"/>
    <p:sldId id="314" r:id="rId66"/>
    <p:sldId id="315" r:id="rId67"/>
    <p:sldId id="316" r:id="rId68"/>
    <p:sldId id="317" r:id="rId69"/>
    <p:sldId id="318" r:id="rId70"/>
    <p:sldId id="319" r:id="rId71"/>
    <p:sldId id="320" r:id="rId72"/>
    <p:sldId id="321" r:id="rId73"/>
    <p:sldId id="322" r:id="rId74"/>
    <p:sldId id="323" r:id="rId75"/>
    <p:sldId id="324" r:id="rId76"/>
    <p:sldId id="325" r:id="rId77"/>
    <p:sldId id="326" r:id="rId78"/>
    <p:sldId id="327" r:id="rId79"/>
    <p:sldId id="328" r:id="rId80"/>
    <p:sldId id="329" r:id="rId81"/>
    <p:sldId id="330" r:id="rId82"/>
    <p:sldId id="331" r:id="rId83"/>
    <p:sldId id="332" r:id="rId84"/>
    <p:sldId id="333" r:id="rId85"/>
    <p:sldId id="334" r:id="rId86"/>
    <p:sldId id="335" r:id="rId87"/>
    <p:sldId id="336" r:id="rId88"/>
    <p:sldId id="337" r:id="rId89"/>
    <p:sldId id="338" r:id="rId90"/>
    <p:sldId id="339" r:id="rId91"/>
    <p:sldId id="340" r:id="rId92"/>
    <p:sldId id="341" r:id="rId93"/>
    <p:sldId id="342" r:id="rId94"/>
    <p:sldId id="343" r:id="rId95"/>
    <p:sldId id="344" r:id="rId96"/>
    <p:sldId id="345" r:id="rId97"/>
    <p:sldId id="346" r:id="rId9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notesMaster" Target="notesMasters/notesMaster1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slide" Target="slides/slide25.xml"/><Relationship Id="rId33" Type="http://schemas.openxmlformats.org/officeDocument/2006/relationships/slide" Target="slides/slide26.xml"/><Relationship Id="rId34" Type="http://schemas.openxmlformats.org/officeDocument/2006/relationships/slide" Target="slides/slide27.xml"/><Relationship Id="rId35" Type="http://schemas.openxmlformats.org/officeDocument/2006/relationships/slide" Target="slides/slide28.xml"/><Relationship Id="rId36" Type="http://schemas.openxmlformats.org/officeDocument/2006/relationships/slide" Target="slides/slide29.xml"/><Relationship Id="rId37" Type="http://schemas.openxmlformats.org/officeDocument/2006/relationships/slide" Target="slides/slide30.xml"/><Relationship Id="rId38" Type="http://schemas.openxmlformats.org/officeDocument/2006/relationships/slide" Target="slides/slide31.xml"/><Relationship Id="rId39" Type="http://schemas.openxmlformats.org/officeDocument/2006/relationships/slide" Target="slides/slide32.xml"/><Relationship Id="rId40" Type="http://schemas.openxmlformats.org/officeDocument/2006/relationships/slide" Target="slides/slide33.xml"/><Relationship Id="rId41" Type="http://schemas.openxmlformats.org/officeDocument/2006/relationships/slide" Target="slides/slide34.xml"/><Relationship Id="rId42" Type="http://schemas.openxmlformats.org/officeDocument/2006/relationships/slide" Target="slides/slide35.xml"/><Relationship Id="rId43" Type="http://schemas.openxmlformats.org/officeDocument/2006/relationships/slide" Target="slides/slide36.xml"/><Relationship Id="rId44" Type="http://schemas.openxmlformats.org/officeDocument/2006/relationships/slide" Target="slides/slide37.xml"/><Relationship Id="rId45" Type="http://schemas.openxmlformats.org/officeDocument/2006/relationships/slide" Target="slides/slide38.xml"/><Relationship Id="rId46" Type="http://schemas.openxmlformats.org/officeDocument/2006/relationships/slide" Target="slides/slide39.xml"/><Relationship Id="rId47" Type="http://schemas.openxmlformats.org/officeDocument/2006/relationships/slide" Target="slides/slide40.xml"/><Relationship Id="rId48" Type="http://schemas.openxmlformats.org/officeDocument/2006/relationships/slide" Target="slides/slide41.xml"/><Relationship Id="rId49" Type="http://schemas.openxmlformats.org/officeDocument/2006/relationships/slide" Target="slides/slide42.xml"/><Relationship Id="rId50" Type="http://schemas.openxmlformats.org/officeDocument/2006/relationships/slide" Target="slides/slide43.xml"/><Relationship Id="rId51" Type="http://schemas.openxmlformats.org/officeDocument/2006/relationships/slide" Target="slides/slide44.xml"/><Relationship Id="rId52" Type="http://schemas.openxmlformats.org/officeDocument/2006/relationships/slide" Target="slides/slide45.xml"/><Relationship Id="rId53" Type="http://schemas.openxmlformats.org/officeDocument/2006/relationships/slide" Target="slides/slide46.xml"/><Relationship Id="rId54" Type="http://schemas.openxmlformats.org/officeDocument/2006/relationships/slide" Target="slides/slide47.xml"/><Relationship Id="rId55" Type="http://schemas.openxmlformats.org/officeDocument/2006/relationships/slide" Target="slides/slide48.xml"/><Relationship Id="rId56" Type="http://schemas.openxmlformats.org/officeDocument/2006/relationships/slide" Target="slides/slide49.xml"/><Relationship Id="rId57" Type="http://schemas.openxmlformats.org/officeDocument/2006/relationships/slide" Target="slides/slide50.xml"/><Relationship Id="rId58" Type="http://schemas.openxmlformats.org/officeDocument/2006/relationships/slide" Target="slides/slide51.xml"/><Relationship Id="rId59" Type="http://schemas.openxmlformats.org/officeDocument/2006/relationships/slide" Target="slides/slide52.xml"/><Relationship Id="rId60" Type="http://schemas.openxmlformats.org/officeDocument/2006/relationships/slide" Target="slides/slide53.xml"/><Relationship Id="rId61" Type="http://schemas.openxmlformats.org/officeDocument/2006/relationships/slide" Target="slides/slide54.xml"/><Relationship Id="rId62" Type="http://schemas.openxmlformats.org/officeDocument/2006/relationships/slide" Target="slides/slide55.xml"/><Relationship Id="rId63" Type="http://schemas.openxmlformats.org/officeDocument/2006/relationships/slide" Target="slides/slide56.xml"/><Relationship Id="rId64" Type="http://schemas.openxmlformats.org/officeDocument/2006/relationships/slide" Target="slides/slide57.xml"/><Relationship Id="rId65" Type="http://schemas.openxmlformats.org/officeDocument/2006/relationships/slide" Target="slides/slide58.xml"/><Relationship Id="rId66" Type="http://schemas.openxmlformats.org/officeDocument/2006/relationships/slide" Target="slides/slide59.xml"/><Relationship Id="rId67" Type="http://schemas.openxmlformats.org/officeDocument/2006/relationships/slide" Target="slides/slide60.xml"/><Relationship Id="rId68" Type="http://schemas.openxmlformats.org/officeDocument/2006/relationships/slide" Target="slides/slide61.xml"/><Relationship Id="rId69" Type="http://schemas.openxmlformats.org/officeDocument/2006/relationships/slide" Target="slides/slide62.xml"/><Relationship Id="rId70" Type="http://schemas.openxmlformats.org/officeDocument/2006/relationships/slide" Target="slides/slide63.xml"/><Relationship Id="rId71" Type="http://schemas.openxmlformats.org/officeDocument/2006/relationships/slide" Target="slides/slide64.xml"/><Relationship Id="rId72" Type="http://schemas.openxmlformats.org/officeDocument/2006/relationships/slide" Target="slides/slide65.xml"/><Relationship Id="rId73" Type="http://schemas.openxmlformats.org/officeDocument/2006/relationships/slide" Target="slides/slide66.xml"/><Relationship Id="rId74" Type="http://schemas.openxmlformats.org/officeDocument/2006/relationships/slide" Target="slides/slide67.xml"/><Relationship Id="rId75" Type="http://schemas.openxmlformats.org/officeDocument/2006/relationships/slide" Target="slides/slide68.xml"/><Relationship Id="rId76" Type="http://schemas.openxmlformats.org/officeDocument/2006/relationships/slide" Target="slides/slide69.xml"/><Relationship Id="rId77" Type="http://schemas.openxmlformats.org/officeDocument/2006/relationships/slide" Target="slides/slide70.xml"/><Relationship Id="rId78" Type="http://schemas.openxmlformats.org/officeDocument/2006/relationships/slide" Target="slides/slide71.xml"/><Relationship Id="rId79" Type="http://schemas.openxmlformats.org/officeDocument/2006/relationships/slide" Target="slides/slide72.xml"/><Relationship Id="rId80" Type="http://schemas.openxmlformats.org/officeDocument/2006/relationships/slide" Target="slides/slide73.xml"/><Relationship Id="rId81" Type="http://schemas.openxmlformats.org/officeDocument/2006/relationships/slide" Target="slides/slide74.xml"/><Relationship Id="rId82" Type="http://schemas.openxmlformats.org/officeDocument/2006/relationships/slide" Target="slides/slide75.xml"/><Relationship Id="rId83" Type="http://schemas.openxmlformats.org/officeDocument/2006/relationships/slide" Target="slides/slide76.xml"/><Relationship Id="rId84" Type="http://schemas.openxmlformats.org/officeDocument/2006/relationships/slide" Target="slides/slide77.xml"/><Relationship Id="rId85" Type="http://schemas.openxmlformats.org/officeDocument/2006/relationships/slide" Target="slides/slide78.xml"/><Relationship Id="rId86" Type="http://schemas.openxmlformats.org/officeDocument/2006/relationships/slide" Target="slides/slide79.xml"/><Relationship Id="rId87" Type="http://schemas.openxmlformats.org/officeDocument/2006/relationships/slide" Target="slides/slide80.xml"/><Relationship Id="rId88" Type="http://schemas.openxmlformats.org/officeDocument/2006/relationships/slide" Target="slides/slide81.xml"/><Relationship Id="rId89" Type="http://schemas.openxmlformats.org/officeDocument/2006/relationships/slide" Target="slides/slide82.xml"/><Relationship Id="rId90" Type="http://schemas.openxmlformats.org/officeDocument/2006/relationships/slide" Target="slides/slide83.xml"/><Relationship Id="rId91" Type="http://schemas.openxmlformats.org/officeDocument/2006/relationships/slide" Target="slides/slide84.xml"/><Relationship Id="rId92" Type="http://schemas.openxmlformats.org/officeDocument/2006/relationships/slide" Target="slides/slide85.xml"/><Relationship Id="rId93" Type="http://schemas.openxmlformats.org/officeDocument/2006/relationships/slide" Target="slides/slide86.xml"/><Relationship Id="rId94" Type="http://schemas.openxmlformats.org/officeDocument/2006/relationships/slide" Target="slides/slide87.xml"/><Relationship Id="rId95" Type="http://schemas.openxmlformats.org/officeDocument/2006/relationships/slide" Target="slides/slide88.xml"/><Relationship Id="rId96" Type="http://schemas.openxmlformats.org/officeDocument/2006/relationships/slide" Target="slides/slide89.xml"/><Relationship Id="rId97" Type="http://schemas.openxmlformats.org/officeDocument/2006/relationships/slide" Target="slides/slide90.xml"/><Relationship Id="rId98" Type="http://schemas.openxmlformats.org/officeDocument/2006/relationships/slide" Target="slides/slide91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9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0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1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2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3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4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5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6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7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8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9.xml"/></Relationships>
</file>

<file path=ppt/notesSlides/_rels/notesSlide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0.xml"/></Relationships>
</file>

<file path=ppt/notesSlides/_rels/notesSlide3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1.xml"/></Relationships>
</file>

<file path=ppt/notesSlides/_rels/notesSlide3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2.xml"/></Relationships>
</file>

<file path=ppt/notesSlides/_rels/notesSlide3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3.xml"/></Relationships>
</file>

<file path=ppt/notesSlides/_rels/notesSlide3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4.xml"/></Relationships>
</file>

<file path=ppt/notesSlides/_rels/notesSlide3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5.xml"/></Relationships>
</file>

<file path=ppt/notesSlides/_rels/notesSlide3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6.xml"/></Relationships>
</file>

<file path=ppt/notesSlides/_rels/notesSlide3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7.xml"/></Relationships>
</file>

<file path=ppt/notesSlides/_rels/notesSlide3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8.xml"/></Relationships>
</file>

<file path=ppt/notesSlides/_rels/notesSlide3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9.xml"/></Relationships>
</file>

<file path=ppt/notesSlides/_rels/notesSlide3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0.xml"/></Relationships>
</file>

<file path=ppt/notesSlides/_rels/notesSlide4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1.xml"/></Relationships>
</file>

<file path=ppt/notesSlides/_rels/notesSlide4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2.xml"/></Relationships>
</file>

<file path=ppt/notesSlides/_rels/notesSlide4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3.xml"/></Relationships>
</file>

<file path=ppt/notesSlides/_rels/notesSlide4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4.xml"/></Relationships>
</file>

<file path=ppt/notesSlides/_rels/notesSlide4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5.xml"/></Relationships>
</file>

<file path=ppt/notesSlides/_rels/notesSlide4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6.xml"/></Relationships>
</file>

<file path=ppt/notesSlides/_rels/notesSlide4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7.xml"/></Relationships>
</file>

<file path=ppt/notesSlides/_rels/notesSlide4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8.xml"/></Relationships>
</file>

<file path=ppt/notesSlides/_rels/notesSlide4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9.xml"/></Relationships>
</file>

<file path=ppt/notesSlides/_rels/notesSlide4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0.xml"/></Relationships>
</file>

<file path=ppt/notesSlides/_rels/notesSlide5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1.xml"/></Relationships>
</file>

<file path=ppt/notesSlides/_rels/notesSlide5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2.xml"/></Relationships>
</file>

<file path=ppt/notesSlides/_rels/notesSlide5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3.xml"/></Relationships>
</file>

<file path=ppt/notesSlides/_rels/notesSlide5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4.xml"/></Relationships>
</file>

<file path=ppt/notesSlides/_rels/notesSlide5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5.xml"/></Relationships>
</file>

<file path=ppt/notesSlides/_rels/notesSlide5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6.xml"/></Relationships>
</file>

<file path=ppt/notesSlides/_rels/notesSlide5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7.xml"/></Relationships>
</file>

<file path=ppt/notesSlides/_rels/notesSlide5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8.xml"/></Relationships>
</file>

<file path=ppt/notesSlides/_rels/notesSlide5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9.xml"/></Relationships>
</file>

<file path=ppt/notesSlides/_rels/notesSlide5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0.xml"/></Relationships>
</file>

<file path=ppt/notesSlides/_rels/notesSlide6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2.xml"/></Relationships>
</file>

<file path=ppt/notesSlides/_rels/notesSlide6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4.xml"/></Relationships>
</file>

<file path=ppt/notesSlides/_rels/notesSlide6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5.xml"/></Relationships>
</file>

<file path=ppt/notesSlides/_rels/notesSlide6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6.xml"/></Relationships>
</file>

<file path=ppt/notesSlides/_rels/notesSlide6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7.xml"/></Relationships>
</file>

<file path=ppt/notesSlides/_rels/notesSlide6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9.xml"/></Relationships>
</file>

<file path=ppt/notesSlides/_rels/notesSlide6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0.xml"/></Relationships>
</file>

<file path=ppt/notesSlides/_rels/notesSlide6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1.xml"/></Relationships>
</file>

<file path=ppt/notesSlides/_rels/notesSlide6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2.xml"/></Relationships>
</file>

<file path=ppt/notesSlides/_rels/notesSlide6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3.xml"/></Relationships>
</file>

<file path=ppt/notesSlides/_rels/notesSlide7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4.xml"/></Relationships>
</file>

<file path=ppt/notesSlides/_rels/notesSlide7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5.xml"/></Relationships>
</file>

<file path=ppt/notesSlides/_rels/notesSlide7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6.xml"/></Relationships>
</file>

<file path=ppt/notesSlides/_rels/notesSlide7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7.xml"/></Relationships>
</file>

<file path=ppt/notesSlides/_rels/notesSlide7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8.xml"/></Relationships>
</file>

<file path=ppt/notesSlides/_rels/notesSlide7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9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From MODULE5 Design Architecture.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From MODULE5 Design Architecture.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From MODULE5 Design Architecture.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Links ALU DUT; vvp runs procedural task-based test sequence.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test_alu_operation task: drive inputs, #delay, compare, log result.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calculate_expected encodes reference model for each opcode.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From MODULE5 — execution and artifact layout.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Follow this order when tracing waveforms or debugging.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Follow this order when tracing waveforms or debugging.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cd module5/examples/file_io &amp;&amp; make — reads vectors from file.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$fopen/$fscanf load vectors; loop until EOF; write results log.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initial block calls tasks for each opcode; prints final summary.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From MODULE5 Verification &amp; Testing Methods.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From MODULE5 Verification &amp; Testing Methods.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From MODULE5 Verification &amp; Testing Methods.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initial for sequences; tasks encapsulate multi-step protocol.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$fwrite pass/fail lines; archive for regression diff.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From MODULE5 Topics Covered.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From MODULE5 Topics Covered.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From MODULE5 Topics Covered.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From MODULE5 Topics Covered.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From MODULE5 Topics Covered.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From MODULE5 Topics Covered.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From MODULE5 Topics Covered.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From MODULE5 Topics Covered.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From MODULE5 Topics Covered.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From MODULE5 Topics Covered.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From MODULE5 Topics Covered.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From MODULE5 Topics Covered.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From MODULE5 Topics Covered.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From MODULE5 Topics Covered.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From MODULE5 Topics Covered.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From MODULE5 Topics Covered.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From MODULE5 Topics Covered.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From MODULE5 Topics Covered.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From MODULE5 Topics Covered.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From MODULE5 Topics Covered.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From MODULE5 Topics Covered.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From MODULE5 Topics Covered.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From MODULE5 Topics Covered.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From MODULE5 Topics Covered.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From MODULE5 Topics Covered.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From MODULE5 Topics Covered.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From MODULE5 Topics Covered.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From MODULE5 Topics Covered.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From MODULE5 Topics Covered.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From MODULE5 Topics Covered.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From MODULE5 Topics Covered.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From MODULE5 Topics Covered.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From MODULE5 Topics Covered.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From MODULE5 Topics Covered.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From MODULE5 Topics Covered.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From MODULE5 Topics Covered.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From MODULE5 Topics Covered.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From MODULE5 Topics Covered.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From MODULE5 Topics Covered.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From MODULE5 Topics Covered.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From MODULE5 Topics Covered.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From MODULE5 Topics Covered.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Run from course repository root.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Hands-on: module5/examples/procedural_constructs/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Hands-on: module5/examples/reusable_routines/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Hands-on: module5/examples/file_io/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Hands-on: module5/examples/test_sequences/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From MODULE5 Learning Outcomes.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From MODULE5 Learning Outcomes.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From MODULE5 Learning Outcomes.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From MODULE5 Learning Outcomes.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From MODULE5 Learning Outcomes.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From MODULE5 Learning Outcomes.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From MODULE5 Learning Outcomes.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From MODULE5 Learning Outcomes.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From MODULE5 Learning Outcomes.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From MODULE5 Learning Outcomes.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From MODULE5 Learning Outcomes.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1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2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3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13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14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15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9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0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1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2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3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4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5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6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7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8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9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0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1.xm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2.xml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3.xml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4.xml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5.xml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6.xml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7.xml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8.xml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9.xml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0.xml"/></Relationships>
</file>

<file path=ppt/slides/_rels/slide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1.xml"/></Relationships>
</file>

<file path=ppt/slides/_rels/slide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2.xml"/></Relationships>
</file>

<file path=ppt/slides/_rels/slide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3.xml"/></Relationships>
</file>

<file path=ppt/slides/_rels/slide5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4.xml"/></Relationships>
</file>

<file path=ppt/slides/_rels/slide5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5.xml"/></Relationships>
</file>

<file path=ppt/slides/_rels/slide5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6.xml"/></Relationships>
</file>

<file path=ppt/slides/_rels/slide5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7.xml"/></Relationships>
</file>

<file path=ppt/slides/_rels/slide5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8.xml"/></Relationships>
</file>

<file path=ppt/slides/_rels/slide6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9.xml"/></Relationships>
</file>

<file path=ppt/slides/_rels/slide6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0.xml"/></Relationships>
</file>

<file path=ppt/slides/_rels/slide6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1.xml"/></Relationships>
</file>

<file path=ppt/slides/_rels/slide6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2.xml"/></Relationships>
</file>

<file path=ppt/slides/_rels/slide6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3.xml"/></Relationships>
</file>

<file path=ppt/slides/_rels/slide6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4.xml"/></Relationships>
</file>

<file path=ppt/slides/_rels/slide6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5.xml"/></Relationships>
</file>

<file path=ppt/slides/_rels/slide6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6.xml"/></Relationships>
</file>

<file path=ppt/slides/_rels/slide6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7.xml"/></Relationships>
</file>

<file path=ppt/slides/_rels/slide6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8.xml"/></Relationships>
</file>

<file path=ppt/slides/_rels/slide7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9.xml"/></Relationships>
</file>

<file path=ppt/slides/_rels/slide7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notesSlide" Target="../notesSlides/notesSlide60.xml"/></Relationships>
</file>

<file path=ppt/slides/_rels/slide7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Relationship Id="rId3" Type="http://schemas.openxmlformats.org/officeDocument/2006/relationships/notesSlide" Target="../notesSlides/notesSlide61.xml"/></Relationships>
</file>

<file path=ppt/slides/_rels/slide7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Relationship Id="rId3" Type="http://schemas.openxmlformats.org/officeDocument/2006/relationships/notesSlide" Target="../notesSlides/notesSlide62.xml"/></Relationships>
</file>

<file path=ppt/slides/_rels/slide7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Relationship Id="rId3" Type="http://schemas.openxmlformats.org/officeDocument/2006/relationships/notesSlide" Target="../notesSlides/notesSlide63.xml"/></Relationships>
</file>

<file path=ppt/slides/_rels/slide7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Relationship Id="rId3" Type="http://schemas.openxmlformats.org/officeDocument/2006/relationships/notesSlide" Target="../notesSlides/notesSlide64.xml"/></Relationships>
</file>

<file path=ppt/slides/_rels/slide7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5.xml"/></Relationships>
</file>

<file path=ppt/slides/_rels/slide8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6.xml"/></Relationships>
</file>

<file path=ppt/slides/_rels/slide8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7.xml"/></Relationships>
</file>

<file path=ppt/slides/_rels/slide8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8.xml"/></Relationships>
</file>

<file path=ppt/slides/_rels/slide8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9.xml"/></Relationships>
</file>

<file path=ppt/slides/_rels/slide8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0.xml"/></Relationships>
</file>

<file path=ppt/slides/_rels/slide8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1.xml"/></Relationships>
</file>

<file path=ppt/slides/_rels/slide8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2.xml"/></Relationships>
</file>

<file path=ppt/slides/_rels/slide8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3.xml"/></Relationships>
</file>

<file path=ppt/slides/_rels/slide8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4.xml"/></Relationships>
</file>

<file path=ppt/slides/_rels/slide8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5.xml"/></Relationships>
</file>

<file path=ppt/slides/_rels/slide9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1828800"/>
            <a:ext cx="11064240" cy="27432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ctr">
              <a:lnSpc>
                <a:spcPts val="2200"/>
              </a:lnSpc>
              <a:spcAft>
                <a:spcPts val="400"/>
              </a:spcAft>
              <a:defRPr sz="4000" b="1">
                <a:solidFill>
                  <a:srgbClr val="1A1A2E"/>
                </a:solidFill>
                <a:latin typeface="Calibri"/>
              </a:defRPr>
            </a:pPr>
            <a:r>
              <a:t>Module 5</a:t>
            </a:r>
          </a:p>
          <a:p>
            <a:pPr algn="ctr">
              <a:lnSpc>
                <a:spcPts val="2200"/>
              </a:lnSpc>
              <a:spcBef>
                <a:spcPts val="1400"/>
              </a:spcBef>
              <a:defRPr sz="2600" b="0">
                <a:solidFill>
                  <a:srgbClr val="333333"/>
                </a:solidFill>
                <a:latin typeface="Calibri"/>
              </a:defRPr>
            </a:pPr>
            <a:r>
              <a:t>Procedural Testbench Writing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learn_verilator_iverilog / Module 5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Learning objectives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Procedural Constructs: Master `initial` and `always`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blocks in Verilog, and control flow in C++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Timing Control: Understand delay control, event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control, and wait statements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Reusable Routines: Create tasks/functions in Verilog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and functions/classes in C++ for code organiza…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File I/O: Read test vectors from files and write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results for automated testing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Test Sequences: Build complex, multi-step test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sequences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Advanced Patterns: Implement state machines,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protocols, and transaction-based testbenches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learn_verilator_iverilog / Module 5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Prerequisites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See module README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learn_verilator_iverilog / Module 5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Learning path</a:t>
            </a:r>
          </a:p>
        </p:txBody>
      </p:sp>
      <p:pic>
        <p:nvPicPr>
          <p:cNvPr id="3" name="Picture 2" descr="learning_path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143000"/>
            <a:ext cx="8128000" cy="45720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5897880"/>
            <a:ext cx="11064240" cy="41148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1200" b="0">
                <a:solidFill>
                  <a:srgbClr val="333333"/>
                </a:solidFill>
                <a:latin typeface="Calibri"/>
              </a:defRPr>
            </a:pPr>
            <a:r>
              <a:t>Master procedural testbench construction using Verilog procedural blocks and C++ control flow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learn_verilator_iverilog / Module 5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Overview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This module covers procedural testbench writing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using Verilog's procedural blocks and C++ control s…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learn_verilator_iverilog / Module 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0"/>
            <a:ext cx="11064240" cy="13716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ctr">
              <a:lnSpc>
                <a:spcPts val="2200"/>
              </a:lnSpc>
              <a:defRPr sz="3600" b="1">
                <a:solidFill>
                  <a:srgbClr val="1A1A2E"/>
                </a:solidFill>
                <a:latin typeface="Calibri"/>
              </a:defRPr>
            </a:pPr>
            <a:r>
              <a:t>Design architecture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learn_verilator_iverilog / Module 5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1. Protocol-oriented DUT (Module 5)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5303520" cy="475488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`dut/uart/simple_uart.v`: TX FSM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— idle, start, data bits, stop;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`tx_done` handshake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Clock domain: Single `clk` with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active-low `rst_n`; serial `tx`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output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Future DUTs: SPI/I2C examples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extend the same procedural TB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patterns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Interface contract: `tx_start`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pulse, `tx_data[7:0]`, wait for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`tx_done` before next byte</a:t>
            </a:r>
          </a:p>
        </p:txBody>
      </p:sp>
      <p:pic>
        <p:nvPicPr>
          <p:cNvPr id="4" name="Picture 3" descr="rtl_architectur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172200" y="2094547"/>
            <a:ext cx="5394960" cy="3034665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learn_verilator_iverilog / Module 5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2. Procedural testbench control architecture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5303520" cy="475488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Verilog: `initial` sequences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call tasks; `always` blocks for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clock and monitors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C++: `main` or test class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methods encode multi-step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protocols with loops and waits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Timing: `#delay` (Verilog) or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counted `eval()` cycles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(Verilator) align to bit times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State alignment: TB FSM tracks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UART phases while DUT FSM runs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in RTL</a:t>
            </a:r>
          </a:p>
        </p:txBody>
      </p:sp>
      <p:pic>
        <p:nvPicPr>
          <p:cNvPr id="4" name="Picture 3" descr="verification_architectur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172200" y="2094547"/>
            <a:ext cx="5394960" cy="3034665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learn_verilator_iverilog / Module 5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3. Reusable routine layer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5303520" cy="475488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Tasks/functions: `send_byte`,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`wait_tx_done`, `apply_reset` —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shared across tests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C++ helpers: Same operations as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methods on a `UartDriver` helper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class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File-driven layer: Sequences can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be loaded from vector files for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long regressions</a:t>
            </a:r>
          </a:p>
        </p:txBody>
      </p:sp>
      <p:pic>
        <p:nvPicPr>
          <p:cNvPr id="4" name="Picture 3" descr="testing_method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172200" y="2094547"/>
            <a:ext cx="5394960" cy="3034665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learn_verilator_iverilog / Module 5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RTL block diagram (reference)</a:t>
            </a:r>
          </a:p>
        </p:txBody>
      </p:sp>
      <p:pic>
        <p:nvPicPr>
          <p:cNvPr id="3" name="Picture 2" descr="rtl_architectur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143000"/>
            <a:ext cx="8128000" cy="45720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5897880"/>
            <a:ext cx="11064240" cy="41148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1200" b="0">
                <a:solidFill>
                  <a:srgbClr val="333333"/>
                </a:solidFill>
                <a:latin typeface="Calibri"/>
              </a:defRPr>
            </a:pPr>
            <a:r>
              <a:t>Module 5: DUT hierarchy and signal flow.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learn_verilator_iverilog / Module 5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Verification / testbench diagram (reference)</a:t>
            </a:r>
          </a:p>
        </p:txBody>
      </p:sp>
      <p:pic>
        <p:nvPicPr>
          <p:cNvPr id="3" name="Picture 2" descr="verification_architectur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143000"/>
            <a:ext cx="8128000" cy="45720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5897880"/>
            <a:ext cx="11064240" cy="41148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1200" b="0">
                <a:solidFill>
                  <a:srgbClr val="333333"/>
                </a:solidFill>
                <a:latin typeface="Calibri"/>
              </a:defRPr>
            </a:pPr>
            <a:r>
              <a:t>Module 5: stimulus, observation, and checking.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learn_verilator_iverilog / Module 5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Task/function Makefile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143000"/>
            <a:ext cx="11064240" cy="5029200"/>
          </a:xfrm>
          <a:prstGeom prst="rect">
            <a:avLst/>
          </a:prstGeom>
          <a:solidFill>
            <a:srgbClr val="F4F4F4"/>
          </a:solidFill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400"/>
              </a:spcAft>
              <a:defRPr sz="2000" b="0">
                <a:solidFill>
                  <a:srgbClr val="333333"/>
                </a:solidFill>
                <a:latin typeface="Consolas"/>
              </a:defRPr>
            </a:pPr>
            <a:r>
              <a:t>task_function_test_verilog: task_function_test_verilog.v</a:t>
            </a:r>
          </a:p>
          <a:p>
            <a:pPr>
              <a:lnSpc>
                <a:spcPts val="2200"/>
              </a:lnSpc>
              <a:spcAft>
                <a:spcPts val="400"/>
              </a:spcAft>
              <a:defRPr sz="2000" b="0">
                <a:solidFill>
                  <a:srgbClr val="333333"/>
                </a:solidFill>
                <a:latin typeface="Consolas"/>
              </a:defRPr>
            </a:pPr>
            <a:r>
              <a:t>        @echo "=== Compiling Verilog task/function example ==="</a:t>
            </a:r>
          </a:p>
          <a:p>
            <a:pPr>
              <a:lnSpc>
                <a:spcPts val="2200"/>
              </a:lnSpc>
              <a:spcAft>
                <a:spcPts val="400"/>
              </a:spcAft>
              <a:defRPr sz="2000" b="0">
                <a:solidFill>
                  <a:srgbClr val="333333"/>
                </a:solidFill>
                <a:latin typeface="Consolas"/>
              </a:defRPr>
            </a:pPr>
            <a:r>
              <a:t>        $(IVERILOG) -o task_function_test task_function_test_verilog.v</a:t>
            </a:r>
          </a:p>
          <a:p>
            <a:pPr>
              <a:lnSpc>
                <a:spcPts val="2200"/>
              </a:lnSpc>
              <a:spcAft>
                <a:spcPts val="400"/>
              </a:spcAft>
              <a:defRPr sz="2000" b="0">
                <a:solidFill>
                  <a:srgbClr val="333333"/>
                </a:solidFill>
                <a:latin typeface="Consolas"/>
              </a:defRPr>
            </a:pPr>
            <a:r>
              <a:t>$(DUT_DIR)/alus/simple_alu.v</a:t>
            </a:r>
          </a:p>
          <a:p>
            <a:pPr>
              <a:lnSpc>
                <a:spcPts val="2200"/>
              </a:lnSpc>
              <a:spcAft>
                <a:spcPts val="400"/>
              </a:spcAft>
              <a:defRPr sz="2000" b="0">
                <a:solidFill>
                  <a:srgbClr val="333333"/>
                </a:solidFill>
                <a:latin typeface="Consolas"/>
              </a:defRPr>
            </a:pPr>
            <a:r>
              <a:t>        @echo "=== Running simulation ==="</a:t>
            </a:r>
          </a:p>
          <a:p>
            <a:pPr>
              <a:lnSpc>
                <a:spcPts val="2200"/>
              </a:lnSpc>
              <a:spcAft>
                <a:spcPts val="400"/>
              </a:spcAft>
              <a:defRPr sz="2000" b="0">
                <a:solidFill>
                  <a:srgbClr val="333333"/>
                </a:solidFill>
                <a:latin typeface="Consolas"/>
              </a:defRPr>
            </a:pPr>
            <a:r>
              <a:t>        $(VVP) task_function_test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learn_verilator_iverilog / Module 5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Task — apply stimulus and check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143000"/>
            <a:ext cx="11064240" cy="5029200"/>
          </a:xfrm>
          <a:prstGeom prst="rect">
            <a:avLst/>
          </a:prstGeom>
          <a:solidFill>
            <a:srgbClr val="F4F4F4"/>
          </a:solidFill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400"/>
              </a:spcAft>
              <a:defRPr sz="2000" b="0">
                <a:solidFill>
                  <a:srgbClr val="333333"/>
                </a:solidFill>
                <a:latin typeface="Consolas"/>
              </a:defRPr>
            </a:pPr>
            <a:r>
              <a:t>task test_alu_operation;</a:t>
            </a:r>
          </a:p>
          <a:p>
            <a:pPr>
              <a:lnSpc>
                <a:spcPts val="2200"/>
              </a:lnSpc>
              <a:spcAft>
                <a:spcPts val="400"/>
              </a:spcAft>
              <a:defRPr sz="2000" b="0">
                <a:solidFill>
                  <a:srgbClr val="333333"/>
                </a:solidFill>
                <a:latin typeface="Consolas"/>
              </a:defRPr>
            </a:pPr>
            <a:r>
              <a:t>        input [7:0] a_val, b_val;</a:t>
            </a:r>
          </a:p>
          <a:p>
            <a:pPr>
              <a:lnSpc>
                <a:spcPts val="2200"/>
              </a:lnSpc>
              <a:spcAft>
                <a:spcPts val="400"/>
              </a:spcAft>
              <a:defRPr sz="2000" b="0">
                <a:solidFill>
                  <a:srgbClr val="333333"/>
                </a:solidFill>
                <a:latin typeface="Consolas"/>
              </a:defRPr>
            </a:pPr>
            <a:r>
              <a:t>        input [1:0] op_val;</a:t>
            </a:r>
          </a:p>
          <a:p>
            <a:pPr>
              <a:lnSpc>
                <a:spcPts val="2200"/>
              </a:lnSpc>
              <a:spcAft>
                <a:spcPts val="400"/>
              </a:spcAft>
              <a:defRPr sz="2000" b="0">
                <a:solidFill>
                  <a:srgbClr val="333333"/>
                </a:solidFill>
                <a:latin typeface="Consolas"/>
              </a:defRPr>
            </a:pPr>
            <a:r>
              <a:t>        begin</a:t>
            </a:r>
          </a:p>
          <a:p>
            <a:pPr>
              <a:lnSpc>
                <a:spcPts val="2200"/>
              </a:lnSpc>
              <a:spcAft>
                <a:spcPts val="400"/>
              </a:spcAft>
              <a:defRPr sz="2000" b="0">
                <a:solidFill>
                  <a:srgbClr val="333333"/>
                </a:solidFill>
                <a:latin typeface="Consolas"/>
              </a:defRPr>
            </a:pPr>
            <a:r>
              <a:t>            // Get operation name from op code</a:t>
            </a:r>
          </a:p>
          <a:p>
            <a:pPr>
              <a:lnSpc>
                <a:spcPts val="2200"/>
              </a:lnSpc>
              <a:spcAft>
                <a:spcPts val="400"/>
              </a:spcAft>
              <a:defRPr sz="2000" b="0">
                <a:solidFill>
                  <a:srgbClr val="333333"/>
                </a:solidFill>
                <a:latin typeface="Consolas"/>
              </a:defRPr>
            </a:pPr>
            <a:r>
              <a:t>            task_op_name = get_op_name(op_val);</a:t>
            </a:r>
          </a:p>
          <a:p>
            <a:pPr>
              <a:lnSpc>
                <a:spcPts val="2200"/>
              </a:lnSpc>
              <a:spcAft>
                <a:spcPts val="400"/>
              </a:spcAft>
              <a:defRPr sz="2000" b="0">
                <a:solidFill>
                  <a:srgbClr val="333333"/>
                </a:solidFill>
                <a:latin typeface="Consolas"/>
              </a:defRPr>
            </a:pPr>
          </a:p>
          <a:p>
            <a:pPr>
              <a:lnSpc>
                <a:spcPts val="2200"/>
              </a:lnSpc>
              <a:spcAft>
                <a:spcPts val="400"/>
              </a:spcAft>
              <a:defRPr sz="2000" b="0">
                <a:solidFill>
                  <a:srgbClr val="333333"/>
                </a:solidFill>
                <a:latin typeface="Consolas"/>
              </a:defRPr>
            </a:pPr>
            <a:r>
              <a:t>            // Step 1: Apply test vector to DUT inputs</a:t>
            </a:r>
          </a:p>
          <a:p>
            <a:pPr>
              <a:lnSpc>
                <a:spcPts val="2200"/>
              </a:lnSpc>
              <a:spcAft>
                <a:spcPts val="400"/>
              </a:spcAft>
              <a:defRPr sz="2000" b="0">
                <a:solidFill>
                  <a:srgbClr val="333333"/>
                </a:solidFill>
                <a:latin typeface="Consolas"/>
              </a:defRPr>
            </a:pPr>
            <a:r>
              <a:t>            // This drives the DUT with the test stimulus</a:t>
            </a:r>
          </a:p>
          <a:p>
            <a:pPr>
              <a:lnSpc>
                <a:spcPts val="2200"/>
              </a:lnSpc>
              <a:spcAft>
                <a:spcPts val="400"/>
              </a:spcAft>
              <a:defRPr sz="2000" b="0">
                <a:solidFill>
                  <a:srgbClr val="333333"/>
                </a:solidFill>
                <a:latin typeface="Consolas"/>
              </a:defRPr>
            </a:pPr>
            <a:r>
              <a:t>            a = a_val;</a:t>
            </a:r>
          </a:p>
          <a:p>
            <a:pPr>
              <a:lnSpc>
                <a:spcPts val="2200"/>
              </a:lnSpc>
              <a:spcAft>
                <a:spcPts val="400"/>
              </a:spcAft>
              <a:defRPr sz="2000" b="0">
                <a:solidFill>
                  <a:srgbClr val="333333"/>
                </a:solidFill>
                <a:latin typeface="Consolas"/>
              </a:defRPr>
            </a:pPr>
            <a:r>
              <a:t>            b = b_val;</a:t>
            </a:r>
          </a:p>
          <a:p>
            <a:pPr>
              <a:lnSpc>
                <a:spcPts val="2200"/>
              </a:lnSpc>
              <a:spcAft>
                <a:spcPts val="400"/>
              </a:spcAft>
              <a:defRPr sz="2000" b="0">
                <a:solidFill>
                  <a:srgbClr val="333333"/>
                </a:solidFill>
                <a:latin typeface="Consolas"/>
              </a:defRPr>
            </a:pPr>
            <a:r>
              <a:t>            op = op_val;</a:t>
            </a:r>
          </a:p>
          <a:p>
            <a:pPr>
              <a:lnSpc>
                <a:spcPts val="2200"/>
              </a:lnSpc>
              <a:spcAft>
                <a:spcPts val="400"/>
              </a:spcAft>
              <a:defRPr sz="2000" b="0">
                <a:solidFill>
                  <a:srgbClr val="333333"/>
                </a:solidFill>
                <a:latin typeface="Consolas"/>
              </a:defRPr>
            </a:pPr>
          </a:p>
          <a:p>
            <a:pPr>
              <a:lnSpc>
                <a:spcPts val="2200"/>
              </a:lnSpc>
              <a:spcAft>
                <a:spcPts val="400"/>
              </a:spcAft>
              <a:defRPr sz="2000" b="0">
                <a:solidFill>
                  <a:srgbClr val="333333"/>
                </a:solidFill>
                <a:latin typeface="Consolas"/>
              </a:defRPr>
            </a:pPr>
            <a:r>
              <a:t>            // Step 2: Wait for combinational logic to propagate</a:t>
            </a:r>
          </a:p>
          <a:p>
            <a:pPr>
              <a:lnSpc>
                <a:spcPts val="2200"/>
              </a:lnSpc>
              <a:spcAft>
                <a:spcPts val="400"/>
              </a:spcAft>
              <a:defRPr sz="2000" b="0">
                <a:solidFill>
                  <a:srgbClr val="333333"/>
                </a:solidFill>
                <a:latin typeface="Consolas"/>
              </a:defRPr>
            </a:pPr>
            <a:r>
              <a:t>            // #5 delay ensures output has stabilized before checking</a:t>
            </a:r>
          </a:p>
          <a:p>
            <a:pPr>
              <a:lnSpc>
                <a:spcPts val="2200"/>
              </a:lnSpc>
              <a:spcAft>
                <a:spcPts val="400"/>
              </a:spcAft>
              <a:defRPr sz="2000" b="0">
                <a:solidFill>
                  <a:srgbClr val="333333"/>
                </a:solidFill>
                <a:latin typeface="Consolas"/>
              </a:defRPr>
            </a:pPr>
            <a:r>
              <a:t>            // For sequential logic, would wait for clock edge instead</a:t>
            </a:r>
          </a:p>
          <a:p>
            <a:pPr>
              <a:lnSpc>
                <a:spcPts val="2200"/>
              </a:lnSpc>
              <a:spcAft>
                <a:spcPts val="400"/>
              </a:spcAft>
              <a:defRPr sz="2000" b="0">
                <a:solidFill>
                  <a:srgbClr val="333333"/>
                </a:solidFill>
                <a:latin typeface="Consolas"/>
              </a:defRPr>
            </a:pPr>
            <a:r>
              <a:t># ...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learn_verilator_iverilog / Module 5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Function — expected ALU result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143000"/>
            <a:ext cx="11064240" cy="5029200"/>
          </a:xfrm>
          <a:prstGeom prst="rect">
            <a:avLst/>
          </a:prstGeom>
          <a:solidFill>
            <a:srgbClr val="F4F4F4"/>
          </a:solidFill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400"/>
              </a:spcAft>
              <a:defRPr sz="2000" b="0">
                <a:solidFill>
                  <a:srgbClr val="333333"/>
                </a:solidFill>
                <a:latin typeface="Consolas"/>
              </a:defRPr>
            </a:pPr>
            <a:r>
              <a:t>function [7:0] calculate_expected;</a:t>
            </a:r>
          </a:p>
          <a:p>
            <a:pPr>
              <a:lnSpc>
                <a:spcPts val="2200"/>
              </a:lnSpc>
              <a:spcAft>
                <a:spcPts val="400"/>
              </a:spcAft>
              <a:defRPr sz="2000" b="0">
                <a:solidFill>
                  <a:srgbClr val="333333"/>
                </a:solidFill>
                <a:latin typeface="Consolas"/>
              </a:defRPr>
            </a:pPr>
            <a:r>
              <a:t>        input [7:0] a_val, b_val;</a:t>
            </a:r>
          </a:p>
          <a:p>
            <a:pPr>
              <a:lnSpc>
                <a:spcPts val="2200"/>
              </a:lnSpc>
              <a:spcAft>
                <a:spcPts val="400"/>
              </a:spcAft>
              <a:defRPr sz="2000" b="0">
                <a:solidFill>
                  <a:srgbClr val="333333"/>
                </a:solidFill>
                <a:latin typeface="Consolas"/>
              </a:defRPr>
            </a:pPr>
            <a:r>
              <a:t>        input [1:0] op_val;</a:t>
            </a:r>
          </a:p>
          <a:p>
            <a:pPr>
              <a:lnSpc>
                <a:spcPts val="2200"/>
              </a:lnSpc>
              <a:spcAft>
                <a:spcPts val="400"/>
              </a:spcAft>
              <a:defRPr sz="2000" b="0">
                <a:solidFill>
                  <a:srgbClr val="333333"/>
                </a:solidFill>
                <a:latin typeface="Consolas"/>
              </a:defRPr>
            </a:pPr>
            <a:r>
              <a:t>        begin</a:t>
            </a:r>
          </a:p>
          <a:p>
            <a:pPr>
              <a:lnSpc>
                <a:spcPts val="2200"/>
              </a:lnSpc>
              <a:spcAft>
                <a:spcPts val="400"/>
              </a:spcAft>
              <a:defRPr sz="2000" b="0">
                <a:solidFill>
                  <a:srgbClr val="333333"/>
                </a:solidFill>
                <a:latin typeface="Consolas"/>
              </a:defRPr>
            </a:pPr>
            <a:r>
              <a:t>            // Case statement implements operation selection</a:t>
            </a:r>
          </a:p>
          <a:p>
            <a:pPr>
              <a:lnSpc>
                <a:spcPts val="2200"/>
              </a:lnSpc>
              <a:spcAft>
                <a:spcPts val="400"/>
              </a:spcAft>
              <a:defRPr sz="2000" b="0">
                <a:solidFill>
                  <a:srgbClr val="333333"/>
                </a:solidFill>
                <a:latin typeface="Consolas"/>
              </a:defRPr>
            </a:pPr>
            <a:r>
              <a:t>            // This is a common pattern for ALU operations</a:t>
            </a:r>
          </a:p>
          <a:p>
            <a:pPr>
              <a:lnSpc>
                <a:spcPts val="2200"/>
              </a:lnSpc>
              <a:spcAft>
                <a:spcPts val="400"/>
              </a:spcAft>
              <a:defRPr sz="2000" b="0">
                <a:solidFill>
                  <a:srgbClr val="333333"/>
                </a:solidFill>
                <a:latin typeface="Consolas"/>
              </a:defRPr>
            </a:pPr>
            <a:r>
              <a:t>            case (op_val)</a:t>
            </a:r>
          </a:p>
          <a:p>
            <a:pPr>
              <a:lnSpc>
                <a:spcPts val="2200"/>
              </a:lnSpc>
              <a:spcAft>
                <a:spcPts val="400"/>
              </a:spcAft>
              <a:defRPr sz="2000" b="0">
                <a:solidFill>
                  <a:srgbClr val="333333"/>
                </a:solidFill>
                <a:latin typeface="Consolas"/>
              </a:defRPr>
            </a:pPr>
            <a:r>
              <a:t>                2'b00: calculate_expected = a_val + b_val;  // ADD:</a:t>
            </a:r>
          </a:p>
          <a:p>
            <a:pPr>
              <a:lnSpc>
                <a:spcPts val="2200"/>
              </a:lnSpc>
              <a:spcAft>
                <a:spcPts val="400"/>
              </a:spcAft>
              <a:defRPr sz="2000" b="0">
                <a:solidFill>
                  <a:srgbClr val="333333"/>
                </a:solidFill>
                <a:latin typeface="Consolas"/>
              </a:defRPr>
            </a:pPr>
            <a:r>
              <a:t>arithmetic addition</a:t>
            </a:r>
          </a:p>
          <a:p>
            <a:pPr>
              <a:lnSpc>
                <a:spcPts val="2200"/>
              </a:lnSpc>
              <a:spcAft>
                <a:spcPts val="400"/>
              </a:spcAft>
              <a:defRPr sz="2000" b="0">
                <a:solidFill>
                  <a:srgbClr val="333333"/>
                </a:solidFill>
                <a:latin typeface="Consolas"/>
              </a:defRPr>
            </a:pPr>
            <a:r>
              <a:t>                2'b01: calculate_expected = a_val - b_val;  // SUB:</a:t>
            </a:r>
          </a:p>
          <a:p>
            <a:pPr>
              <a:lnSpc>
                <a:spcPts val="2200"/>
              </a:lnSpc>
              <a:spcAft>
                <a:spcPts val="400"/>
              </a:spcAft>
              <a:defRPr sz="2000" b="0">
                <a:solidFill>
                  <a:srgbClr val="333333"/>
                </a:solidFill>
                <a:latin typeface="Consolas"/>
              </a:defRPr>
            </a:pPr>
            <a:r>
              <a:t>arithmetic subtraction</a:t>
            </a:r>
          </a:p>
          <a:p>
            <a:pPr>
              <a:lnSpc>
                <a:spcPts val="2200"/>
              </a:lnSpc>
              <a:spcAft>
                <a:spcPts val="400"/>
              </a:spcAft>
              <a:defRPr sz="2000" b="0">
                <a:solidFill>
                  <a:srgbClr val="333333"/>
                </a:solidFill>
                <a:latin typeface="Consolas"/>
              </a:defRPr>
            </a:pPr>
            <a:r>
              <a:t>                2'b10: calculate_expected = a_val &amp; b_val;  // AND:</a:t>
            </a:r>
          </a:p>
          <a:p>
            <a:pPr>
              <a:lnSpc>
                <a:spcPts val="2200"/>
              </a:lnSpc>
              <a:spcAft>
                <a:spcPts val="400"/>
              </a:spcAft>
              <a:defRPr sz="2000" b="0">
                <a:solidFill>
                  <a:srgbClr val="333333"/>
                </a:solidFill>
                <a:latin typeface="Consolas"/>
              </a:defRPr>
            </a:pPr>
            <a:r>
              <a:t>bitwise AND</a:t>
            </a:r>
          </a:p>
          <a:p>
            <a:pPr>
              <a:lnSpc>
                <a:spcPts val="2200"/>
              </a:lnSpc>
              <a:spcAft>
                <a:spcPts val="400"/>
              </a:spcAft>
              <a:defRPr sz="2000" b="0">
                <a:solidFill>
                  <a:srgbClr val="333333"/>
                </a:solidFill>
                <a:latin typeface="Consolas"/>
              </a:defRPr>
            </a:pPr>
            <a:r>
              <a:t>                2'b11: calculate_expected = a_val | b_val;  // OR:</a:t>
            </a:r>
          </a:p>
          <a:p>
            <a:pPr>
              <a:lnSpc>
                <a:spcPts val="2200"/>
              </a:lnSpc>
              <a:spcAft>
                <a:spcPts val="400"/>
              </a:spcAft>
              <a:defRPr sz="2000" b="0">
                <a:solidFill>
                  <a:srgbClr val="333333"/>
                </a:solidFill>
                <a:latin typeface="Consolas"/>
              </a:defRPr>
            </a:pPr>
            <a:r>
              <a:t>bitwise OR</a:t>
            </a:r>
          </a:p>
          <a:p>
            <a:pPr>
              <a:lnSpc>
                <a:spcPts val="2200"/>
              </a:lnSpc>
              <a:spcAft>
                <a:spcPts val="400"/>
              </a:spcAft>
              <a:defRPr sz="2000" b="0">
                <a:solidFill>
                  <a:srgbClr val="333333"/>
                </a:solidFill>
                <a:latin typeface="Consolas"/>
              </a:defRPr>
            </a:pPr>
            <a:r>
              <a:t>                default: calculate_expected = 8'h00;  // Default: return</a:t>
            </a:r>
          </a:p>
          <a:p>
            <a:pPr>
              <a:lnSpc>
                <a:spcPts val="2200"/>
              </a:lnSpc>
              <a:spcAft>
                <a:spcPts val="400"/>
              </a:spcAft>
              <a:defRPr sz="2000" b="0">
                <a:solidFill>
                  <a:srgbClr val="333333"/>
                </a:solidFill>
                <a:latin typeface="Consolas"/>
              </a:defRPr>
            </a:pPr>
            <a:r>
              <a:t>0 for invalid op</a:t>
            </a:r>
          </a:p>
          <a:p>
            <a:pPr>
              <a:lnSpc>
                <a:spcPts val="2200"/>
              </a:lnSpc>
              <a:spcAft>
                <a:spcPts val="400"/>
              </a:spcAft>
              <a:defRPr sz="2000" b="0">
                <a:solidFill>
                  <a:srgbClr val="333333"/>
                </a:solidFill>
                <a:latin typeface="Consolas"/>
              </a:defRPr>
            </a:pPr>
            <a:r>
              <a:t>            endcase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learn_verilator_iverilog / Module 5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0"/>
            <a:ext cx="11064240" cy="13716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ctr">
              <a:lnSpc>
                <a:spcPts val="2200"/>
              </a:lnSpc>
              <a:defRPr sz="3600" b="1">
                <a:solidFill>
                  <a:srgbClr val="1A1A2E"/>
                </a:solidFill>
                <a:latin typeface="Calibri"/>
              </a:defRPr>
            </a:pPr>
            <a:r>
              <a:t>Execution &amp; simulation flow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learn_verilator_iverilog / Module 5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How the example runs (toolchain)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Makefile: Verilator compiles RTL + SystemVerilog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testbench into a C++ model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sim_main.cpp: generates clk/rst_n, calls eval()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until $finish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Directed test (initial block or C++): drive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stimulus, wait for DUT flags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Self-check: compare outputs; print PASS/FAIL (see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terminal demo slide)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Repo path: module5/examples/&lt;example&gt;/ — run make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run from that directory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learn_verilator_iverilog / Module 5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Directed test execution sequence (1)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task/function computes expected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compare DUT output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write pass/fail to log file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Define tasks/functions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call from initial block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learn_verilator_iverilog / Module 5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Directed test execution sequence (2)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load file vectors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log results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./scripts/module5.sh --check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learn_verilator_iverilog / Module 5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File I/O regression build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143000"/>
            <a:ext cx="11064240" cy="5029200"/>
          </a:xfrm>
          <a:prstGeom prst="rect">
            <a:avLst/>
          </a:prstGeom>
          <a:solidFill>
            <a:srgbClr val="F4F4F4"/>
          </a:solidFill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400"/>
              </a:spcAft>
              <a:defRPr sz="2000" b="0">
                <a:solidFill>
                  <a:srgbClr val="333333"/>
                </a:solidFill>
                <a:latin typeface="Consolas"/>
              </a:defRPr>
            </a:pPr>
            <a:r>
              <a:t># Makefile for file I/O examples</a:t>
            </a:r>
          </a:p>
          <a:p>
            <a:pPr>
              <a:lnSpc>
                <a:spcPts val="2200"/>
              </a:lnSpc>
              <a:spcAft>
                <a:spcPts val="400"/>
              </a:spcAft>
              <a:defRPr sz="2000" b="0">
                <a:solidFill>
                  <a:srgbClr val="333333"/>
                </a:solidFill>
                <a:latin typeface="Consolas"/>
              </a:defRPr>
            </a:pPr>
          </a:p>
          <a:p>
            <a:pPr>
              <a:lnSpc>
                <a:spcPts val="2200"/>
              </a:lnSpc>
              <a:spcAft>
                <a:spcPts val="400"/>
              </a:spcAft>
              <a:defRPr sz="2000" b="0">
                <a:solidFill>
                  <a:srgbClr val="333333"/>
                </a:solidFill>
                <a:latin typeface="Consolas"/>
              </a:defRPr>
            </a:pPr>
            <a:r>
              <a:t>IVERILOG = iverilog</a:t>
            </a:r>
          </a:p>
          <a:p>
            <a:pPr>
              <a:lnSpc>
                <a:spcPts val="2200"/>
              </a:lnSpc>
              <a:spcAft>
                <a:spcPts val="400"/>
              </a:spcAft>
              <a:defRPr sz="2000" b="0">
                <a:solidFill>
                  <a:srgbClr val="333333"/>
                </a:solidFill>
                <a:latin typeface="Consolas"/>
              </a:defRPr>
            </a:pPr>
            <a:r>
              <a:t>VVP = vvp</a:t>
            </a:r>
          </a:p>
          <a:p>
            <a:pPr>
              <a:lnSpc>
                <a:spcPts val="2200"/>
              </a:lnSpc>
              <a:spcAft>
                <a:spcPts val="400"/>
              </a:spcAft>
              <a:defRPr sz="2000" b="0">
                <a:solidFill>
                  <a:srgbClr val="333333"/>
                </a:solidFill>
                <a:latin typeface="Consolas"/>
              </a:defRPr>
            </a:pPr>
            <a:r>
              <a:t>VERILATOR = verilator</a:t>
            </a:r>
          </a:p>
          <a:p>
            <a:pPr>
              <a:lnSpc>
                <a:spcPts val="2200"/>
              </a:lnSpc>
              <a:spcAft>
                <a:spcPts val="400"/>
              </a:spcAft>
              <a:defRPr sz="2000" b="0">
                <a:solidFill>
                  <a:srgbClr val="333333"/>
                </a:solidFill>
                <a:latin typeface="Consolas"/>
              </a:defRPr>
            </a:pPr>
            <a:r>
              <a:t>DUT_DIR = ../../../module4/dut</a:t>
            </a:r>
          </a:p>
          <a:p>
            <a:pPr>
              <a:lnSpc>
                <a:spcPts val="2200"/>
              </a:lnSpc>
              <a:spcAft>
                <a:spcPts val="400"/>
              </a:spcAft>
              <a:defRPr sz="2000" b="0">
                <a:solidFill>
                  <a:srgbClr val="333333"/>
                </a:solidFill>
                <a:latin typeface="Consolas"/>
              </a:defRPr>
            </a:pPr>
          </a:p>
          <a:p>
            <a:pPr>
              <a:lnSpc>
                <a:spcPts val="2200"/>
              </a:lnSpc>
              <a:spcAft>
                <a:spcPts val="400"/>
              </a:spcAft>
              <a:defRPr sz="2000" b="0">
                <a:solidFill>
                  <a:srgbClr val="333333"/>
                </a:solidFill>
                <a:latin typeface="Consolas"/>
              </a:defRPr>
            </a:pPr>
            <a:r>
              <a:t>all: file_based_test_verilog file_based_test_cpp</a:t>
            </a:r>
          </a:p>
          <a:p>
            <a:pPr>
              <a:lnSpc>
                <a:spcPts val="2200"/>
              </a:lnSpc>
              <a:spcAft>
                <a:spcPts val="400"/>
              </a:spcAft>
              <a:defRPr sz="2000" b="0">
                <a:solidFill>
                  <a:srgbClr val="333333"/>
                </a:solidFill>
                <a:latin typeface="Consolas"/>
              </a:defRPr>
            </a:pPr>
          </a:p>
          <a:p>
            <a:pPr>
              <a:lnSpc>
                <a:spcPts val="2200"/>
              </a:lnSpc>
              <a:spcAft>
                <a:spcPts val="400"/>
              </a:spcAft>
              <a:defRPr sz="2000" b="0">
                <a:solidFill>
                  <a:srgbClr val="333333"/>
                </a:solidFill>
                <a:latin typeface="Consolas"/>
              </a:defRPr>
            </a:pPr>
            <a:r>
              <a:t>file_based_test_verilog: file_based_test_verilog.v test_vectors.hex</a:t>
            </a:r>
          </a:p>
          <a:p>
            <a:pPr>
              <a:lnSpc>
                <a:spcPts val="2200"/>
              </a:lnSpc>
              <a:spcAft>
                <a:spcPts val="400"/>
              </a:spcAft>
              <a:defRPr sz="2000" b="0">
                <a:solidFill>
                  <a:srgbClr val="333333"/>
                </a:solidFill>
                <a:latin typeface="Consolas"/>
              </a:defRPr>
            </a:pPr>
            <a:r>
              <a:t>expected_results.hex</a:t>
            </a:r>
          </a:p>
          <a:p>
            <a:pPr>
              <a:lnSpc>
                <a:spcPts val="2200"/>
              </a:lnSpc>
              <a:spcAft>
                <a:spcPts val="400"/>
              </a:spcAft>
              <a:defRPr sz="2000" b="0">
                <a:solidFill>
                  <a:srgbClr val="333333"/>
                </a:solidFill>
                <a:latin typeface="Consolas"/>
              </a:defRPr>
            </a:pPr>
            <a:r>
              <a:t>        @echo "=== Compiling Verilog file-based testbench ==="</a:t>
            </a:r>
          </a:p>
          <a:p>
            <a:pPr>
              <a:lnSpc>
                <a:spcPts val="2200"/>
              </a:lnSpc>
              <a:spcAft>
                <a:spcPts val="400"/>
              </a:spcAft>
              <a:defRPr sz="2000" b="0">
                <a:solidFill>
                  <a:srgbClr val="333333"/>
                </a:solidFill>
                <a:latin typeface="Consolas"/>
              </a:defRPr>
            </a:pPr>
            <a:r>
              <a:t>        $(IVERILOG) -o file_based_test file_based_test_verilog.v</a:t>
            </a:r>
          </a:p>
          <a:p>
            <a:pPr>
              <a:lnSpc>
                <a:spcPts val="2200"/>
              </a:lnSpc>
              <a:spcAft>
                <a:spcPts val="400"/>
              </a:spcAft>
              <a:defRPr sz="2000" b="0">
                <a:solidFill>
                  <a:srgbClr val="333333"/>
                </a:solidFill>
                <a:latin typeface="Consolas"/>
              </a:defRPr>
            </a:pPr>
            <a:r>
              <a:t>$(DUT_DIR)/alus/simple_alu.v</a:t>
            </a:r>
          </a:p>
          <a:p>
            <a:pPr>
              <a:lnSpc>
                <a:spcPts val="2200"/>
              </a:lnSpc>
              <a:spcAft>
                <a:spcPts val="400"/>
              </a:spcAft>
              <a:defRPr sz="2000" b="0">
                <a:solidFill>
                  <a:srgbClr val="333333"/>
                </a:solidFill>
                <a:latin typeface="Consolas"/>
              </a:defRPr>
            </a:pPr>
            <a:r>
              <a:t>        @echo "=== Running simulation ==="</a:t>
            </a:r>
          </a:p>
          <a:p>
            <a:pPr>
              <a:lnSpc>
                <a:spcPts val="2200"/>
              </a:lnSpc>
              <a:spcAft>
                <a:spcPts val="400"/>
              </a:spcAft>
              <a:defRPr sz="2000" b="0">
                <a:solidFill>
                  <a:srgbClr val="333333"/>
                </a:solidFill>
                <a:latin typeface="Consolas"/>
              </a:defRPr>
            </a:pPr>
            <a:r>
              <a:t>        $(VVP) file_based_test</a:t>
            </a:r>
          </a:p>
          <a:p>
            <a:pPr>
              <a:lnSpc>
                <a:spcPts val="2200"/>
              </a:lnSpc>
              <a:spcAft>
                <a:spcPts val="400"/>
              </a:spcAft>
              <a:defRPr sz="2000" b="0">
                <a:solidFill>
                  <a:srgbClr val="333333"/>
                </a:solidFill>
                <a:latin typeface="Consolas"/>
              </a:defRPr>
            </a:pPr>
            <a:r>
              <a:t>        @echo "=== Checking output file ==="</a:t>
            </a:r>
          </a:p>
          <a:p>
            <a:pPr>
              <a:lnSpc>
                <a:spcPts val="2200"/>
              </a:lnSpc>
              <a:spcAft>
                <a:spcPts val="400"/>
              </a:spcAft>
              <a:defRPr sz="2000" b="0">
                <a:solidFill>
                  <a:srgbClr val="333333"/>
                </a:solidFill>
                <a:latin typeface="Consolas"/>
              </a:defRPr>
            </a:pPr>
            <a:r>
              <a:t>        @if [ -f test_results.txt ]; then \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learn_verilator_iverilog / Module 5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File read and test loop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143000"/>
            <a:ext cx="11064240" cy="5029200"/>
          </a:xfrm>
          <a:prstGeom prst="rect">
            <a:avLst/>
          </a:prstGeom>
          <a:solidFill>
            <a:srgbClr val="F4F4F4"/>
          </a:solidFill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400"/>
              </a:spcAft>
              <a:defRPr sz="2000" b="0">
                <a:solidFill>
                  <a:srgbClr val="333333"/>
                </a:solidFill>
                <a:latin typeface="Consolas"/>
              </a:defRPr>
            </a:pPr>
            <a:r>
              <a:t>/**</a:t>
            </a:r>
          </a:p>
          <a:p>
            <a:pPr>
              <a:lnSpc>
                <a:spcPts val="2200"/>
              </a:lnSpc>
              <a:spcAft>
                <a:spcPts val="400"/>
              </a:spcAft>
              <a:defRPr sz="2000" b="0">
                <a:solidFill>
                  <a:srgbClr val="333333"/>
                </a:solidFill>
                <a:latin typeface="Consolas"/>
              </a:defRPr>
            </a:pPr>
            <a:r>
              <a:t>     * Main Test Sequence</a:t>
            </a:r>
          </a:p>
          <a:p>
            <a:pPr>
              <a:lnSpc>
                <a:spcPts val="2200"/>
              </a:lnSpc>
              <a:spcAft>
                <a:spcPts val="400"/>
              </a:spcAft>
              <a:defRPr sz="2000" b="0">
                <a:solidFill>
                  <a:srgbClr val="333333"/>
                </a:solidFill>
                <a:latin typeface="Consolas"/>
              </a:defRPr>
            </a:pPr>
            <a:r>
              <a:t>     *</a:t>
            </a:r>
          </a:p>
          <a:p>
            <a:pPr>
              <a:lnSpc>
                <a:spcPts val="2200"/>
              </a:lnSpc>
              <a:spcAft>
                <a:spcPts val="400"/>
              </a:spcAft>
              <a:defRPr sz="2000" b="0">
                <a:solidFill>
                  <a:srgbClr val="333333"/>
                </a:solidFill>
                <a:latin typeface="Consolas"/>
              </a:defRPr>
            </a:pPr>
            <a:r>
              <a:t>     * This initial block orchestrates the file-based testbench:</a:t>
            </a:r>
          </a:p>
          <a:p>
            <a:pPr>
              <a:lnSpc>
                <a:spcPts val="2200"/>
              </a:lnSpc>
              <a:spcAft>
                <a:spcPts val="400"/>
              </a:spcAft>
              <a:defRPr sz="2000" b="0">
                <a:solidFill>
                  <a:srgbClr val="333333"/>
                </a:solidFill>
                <a:latin typeface="Consolas"/>
              </a:defRPr>
            </a:pPr>
            <a:r>
              <a:t>     * 1. Read test vectors from input files</a:t>
            </a:r>
          </a:p>
          <a:p>
            <a:pPr>
              <a:lnSpc>
                <a:spcPts val="2200"/>
              </a:lnSpc>
              <a:spcAft>
                <a:spcPts val="400"/>
              </a:spcAft>
              <a:defRPr sz="2000" b="0">
                <a:solidFill>
                  <a:srgbClr val="333333"/>
                </a:solidFill>
                <a:latin typeface="Consolas"/>
              </a:defRPr>
            </a:pPr>
            <a:r>
              <a:t>     * 2. Open output file for results</a:t>
            </a:r>
          </a:p>
          <a:p>
            <a:pPr>
              <a:lnSpc>
                <a:spcPts val="2200"/>
              </a:lnSpc>
              <a:spcAft>
                <a:spcPts val="400"/>
              </a:spcAft>
              <a:defRPr sz="2000" b="0">
                <a:solidFill>
                  <a:srgbClr val="333333"/>
                </a:solidFill>
                <a:latin typeface="Consolas"/>
              </a:defRPr>
            </a:pPr>
            <a:r>
              <a:t>     * 3. Apply test vectors and check results</a:t>
            </a:r>
          </a:p>
          <a:p>
            <a:pPr>
              <a:lnSpc>
                <a:spcPts val="2200"/>
              </a:lnSpc>
              <a:spcAft>
                <a:spcPts val="400"/>
              </a:spcAft>
              <a:defRPr sz="2000" b="0">
                <a:solidFill>
                  <a:srgbClr val="333333"/>
                </a:solidFill>
                <a:latin typeface="Consolas"/>
              </a:defRPr>
            </a:pPr>
            <a:r>
              <a:t>     * 4. Write results to file</a:t>
            </a:r>
          </a:p>
          <a:p>
            <a:pPr>
              <a:lnSpc>
                <a:spcPts val="2200"/>
              </a:lnSpc>
              <a:spcAft>
                <a:spcPts val="400"/>
              </a:spcAft>
              <a:defRPr sz="2000" b="0">
                <a:solidFill>
                  <a:srgbClr val="333333"/>
                </a:solidFill>
                <a:latin typeface="Consolas"/>
              </a:defRPr>
            </a:pPr>
            <a:r>
              <a:t>     * 5. Close file and finish</a:t>
            </a:r>
          </a:p>
          <a:p>
            <a:pPr>
              <a:lnSpc>
                <a:spcPts val="2200"/>
              </a:lnSpc>
              <a:spcAft>
                <a:spcPts val="400"/>
              </a:spcAft>
              <a:defRPr sz="2000" b="0">
                <a:solidFill>
                  <a:srgbClr val="333333"/>
                </a:solidFill>
                <a:latin typeface="Consolas"/>
              </a:defRPr>
            </a:pPr>
            <a:r>
              <a:t>     *</a:t>
            </a:r>
          </a:p>
          <a:p>
            <a:pPr>
              <a:lnSpc>
                <a:spcPts val="2200"/>
              </a:lnSpc>
              <a:spcAft>
                <a:spcPts val="400"/>
              </a:spcAft>
              <a:defRPr sz="2000" b="0">
                <a:solidFill>
                  <a:srgbClr val="333333"/>
                </a:solidFill>
                <a:latin typeface="Consolas"/>
              </a:defRPr>
            </a:pPr>
            <a:r>
              <a:t>     * File I/O in Verilog:</a:t>
            </a:r>
          </a:p>
          <a:p>
            <a:pPr>
              <a:lnSpc>
                <a:spcPts val="2200"/>
              </a:lnSpc>
              <a:spcAft>
                <a:spcPts val="400"/>
              </a:spcAft>
              <a:defRPr sz="2000" b="0">
                <a:solidFill>
                  <a:srgbClr val="333333"/>
                </a:solidFill>
                <a:latin typeface="Consolas"/>
              </a:defRPr>
            </a:pPr>
            <a:r>
              <a:t>     * - $readmemh: Read hex format file into memory array</a:t>
            </a:r>
          </a:p>
          <a:p>
            <a:pPr>
              <a:lnSpc>
                <a:spcPts val="2200"/>
              </a:lnSpc>
              <a:spcAft>
                <a:spcPts val="400"/>
              </a:spcAft>
              <a:defRPr sz="2000" b="0">
                <a:solidFill>
                  <a:srgbClr val="333333"/>
                </a:solidFill>
                <a:latin typeface="Consolas"/>
              </a:defRPr>
            </a:pPr>
            <a:r>
              <a:t>     * - $readmemb: Read binary format file into memory array</a:t>
            </a:r>
          </a:p>
          <a:p>
            <a:pPr>
              <a:lnSpc>
                <a:spcPts val="2200"/>
              </a:lnSpc>
              <a:spcAft>
                <a:spcPts val="400"/>
              </a:spcAft>
              <a:defRPr sz="2000" b="0">
                <a:solidFill>
                  <a:srgbClr val="333333"/>
                </a:solidFill>
                <a:latin typeface="Consolas"/>
              </a:defRPr>
            </a:pPr>
            <a:r>
              <a:t>     * - $fopen: Open file for writing (returns file handle)</a:t>
            </a:r>
          </a:p>
          <a:p>
            <a:pPr>
              <a:lnSpc>
                <a:spcPts val="2200"/>
              </a:lnSpc>
              <a:spcAft>
                <a:spcPts val="400"/>
              </a:spcAft>
              <a:defRPr sz="2000" b="0">
                <a:solidFill>
                  <a:srgbClr val="333333"/>
                </a:solidFill>
                <a:latin typeface="Consolas"/>
              </a:defRPr>
            </a:pPr>
            <a:r>
              <a:t>     * - $fwrite: Write formatted data to file</a:t>
            </a:r>
          </a:p>
          <a:p>
            <a:pPr>
              <a:lnSpc>
                <a:spcPts val="2200"/>
              </a:lnSpc>
              <a:spcAft>
                <a:spcPts val="400"/>
              </a:spcAft>
              <a:defRPr sz="2000" b="0">
                <a:solidFill>
                  <a:srgbClr val="333333"/>
                </a:solidFill>
                <a:latin typeface="Consolas"/>
              </a:defRPr>
            </a:pPr>
            <a:r>
              <a:t>     * - $fclose: Close file handle</a:t>
            </a:r>
          </a:p>
          <a:p>
            <a:pPr>
              <a:lnSpc>
                <a:spcPts val="2200"/>
              </a:lnSpc>
              <a:spcAft>
                <a:spcPts val="400"/>
              </a:spcAft>
              <a:defRPr sz="2000" b="0">
                <a:solidFill>
                  <a:srgbClr val="333333"/>
                </a:solidFill>
                <a:latin typeface="Consolas"/>
              </a:defRPr>
            </a:pPr>
            <a:r>
              <a:t># ...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learn_verilator_iverilog / Module 5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Test sequence orchestration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143000"/>
            <a:ext cx="11064240" cy="5029200"/>
          </a:xfrm>
          <a:prstGeom prst="rect">
            <a:avLst/>
          </a:prstGeom>
          <a:solidFill>
            <a:srgbClr val="F4F4F4"/>
          </a:solidFill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400"/>
              </a:spcAft>
              <a:defRPr sz="2000" b="0">
                <a:solidFill>
                  <a:srgbClr val="333333"/>
                </a:solidFill>
                <a:latin typeface="Consolas"/>
              </a:defRPr>
            </a:pPr>
            <a:r>
              <a:t>begin</a:t>
            </a:r>
          </a:p>
          <a:p>
            <a:pPr>
              <a:lnSpc>
                <a:spcPts val="2200"/>
              </a:lnSpc>
              <a:spcAft>
                <a:spcPts val="400"/>
              </a:spcAft>
              <a:defRPr sz="2000" b="0">
                <a:solidFill>
                  <a:srgbClr val="333333"/>
                </a:solidFill>
                <a:latin typeface="Consolas"/>
              </a:defRPr>
            </a:pPr>
            <a:r>
              <a:t>            $display("========================================");</a:t>
            </a:r>
          </a:p>
          <a:p>
            <a:pPr>
              <a:lnSpc>
                <a:spcPts val="2200"/>
              </a:lnSpc>
              <a:spcAft>
                <a:spcPts val="400"/>
              </a:spcAft>
              <a:defRPr sz="2000" b="0">
                <a:solidFill>
                  <a:srgbClr val="333333"/>
                </a:solidFill>
                <a:latin typeface="Consolas"/>
              </a:defRPr>
            </a:pPr>
            <a:r>
              <a:t>            $display("Running ALU Test Suite");</a:t>
            </a:r>
          </a:p>
          <a:p>
            <a:pPr>
              <a:lnSpc>
                <a:spcPts val="2200"/>
              </a:lnSpc>
              <a:spcAft>
                <a:spcPts val="400"/>
              </a:spcAft>
              <a:defRPr sz="2000" b="0">
                <a:solidFill>
                  <a:srgbClr val="333333"/>
                </a:solidFill>
                <a:latin typeface="Consolas"/>
              </a:defRPr>
            </a:pPr>
            <a:r>
              <a:t>            $display("========================================");</a:t>
            </a:r>
          </a:p>
          <a:p>
            <a:pPr>
              <a:lnSpc>
                <a:spcPts val="2200"/>
              </a:lnSpc>
              <a:spcAft>
                <a:spcPts val="400"/>
              </a:spcAft>
              <a:defRPr sz="2000" b="0">
                <a:solidFill>
                  <a:srgbClr val="333333"/>
                </a:solidFill>
                <a:latin typeface="Consolas"/>
              </a:defRPr>
            </a:pPr>
          </a:p>
          <a:p>
            <a:pPr>
              <a:lnSpc>
                <a:spcPts val="2200"/>
              </a:lnSpc>
              <a:spcAft>
                <a:spcPts val="400"/>
              </a:spcAft>
              <a:defRPr sz="2000" b="0">
                <a:solidFill>
                  <a:srgbClr val="333333"/>
                </a:solidFill>
                <a:latin typeface="Consolas"/>
              </a:defRPr>
            </a:pPr>
            <a:r>
              <a:t>            // Test ADD</a:t>
            </a:r>
          </a:p>
          <a:p>
            <a:pPr>
              <a:lnSpc>
                <a:spcPts val="2200"/>
              </a:lnSpc>
              <a:spcAft>
                <a:spcPts val="400"/>
              </a:spcAft>
              <a:defRPr sz="2000" b="0">
                <a:solidFill>
                  <a:srgbClr val="333333"/>
                </a:solidFill>
                <a:latin typeface="Consolas"/>
              </a:defRPr>
            </a:pPr>
            <a:r>
              <a:t>            test_alu_operation(8'h10, 8'h20, 2'b00);</a:t>
            </a:r>
          </a:p>
          <a:p>
            <a:pPr>
              <a:lnSpc>
                <a:spcPts val="2200"/>
              </a:lnSpc>
              <a:spcAft>
                <a:spcPts val="400"/>
              </a:spcAft>
              <a:defRPr sz="2000" b="0">
                <a:solidFill>
                  <a:srgbClr val="333333"/>
                </a:solidFill>
                <a:latin typeface="Consolas"/>
              </a:defRPr>
            </a:pPr>
            <a:r>
              <a:t>            test_alu_operation(8'hFF, 8'h01, 2'b00);</a:t>
            </a:r>
          </a:p>
          <a:p>
            <a:pPr>
              <a:lnSpc>
                <a:spcPts val="2200"/>
              </a:lnSpc>
              <a:spcAft>
                <a:spcPts val="400"/>
              </a:spcAft>
              <a:defRPr sz="2000" b="0">
                <a:solidFill>
                  <a:srgbClr val="333333"/>
                </a:solidFill>
                <a:latin typeface="Consolas"/>
              </a:defRPr>
            </a:pPr>
          </a:p>
          <a:p>
            <a:pPr>
              <a:lnSpc>
                <a:spcPts val="2200"/>
              </a:lnSpc>
              <a:spcAft>
                <a:spcPts val="400"/>
              </a:spcAft>
              <a:defRPr sz="2000" b="0">
                <a:solidFill>
                  <a:srgbClr val="333333"/>
                </a:solidFill>
                <a:latin typeface="Consolas"/>
              </a:defRPr>
            </a:pPr>
            <a:r>
              <a:t>            // Test SUB</a:t>
            </a:r>
          </a:p>
          <a:p>
            <a:pPr>
              <a:lnSpc>
                <a:spcPts val="2200"/>
              </a:lnSpc>
              <a:spcAft>
                <a:spcPts val="400"/>
              </a:spcAft>
              <a:defRPr sz="2000" b="0">
                <a:solidFill>
                  <a:srgbClr val="333333"/>
                </a:solidFill>
                <a:latin typeface="Consolas"/>
              </a:defRPr>
            </a:pPr>
            <a:r>
              <a:t>            test_alu_operation(8'h30, 8'h10, 2'b01);</a:t>
            </a:r>
          </a:p>
          <a:p>
            <a:pPr>
              <a:lnSpc>
                <a:spcPts val="2200"/>
              </a:lnSpc>
              <a:spcAft>
                <a:spcPts val="400"/>
              </a:spcAft>
              <a:defRPr sz="2000" b="0">
                <a:solidFill>
                  <a:srgbClr val="333333"/>
                </a:solidFill>
                <a:latin typeface="Consolas"/>
              </a:defRPr>
            </a:pPr>
            <a:r>
              <a:t>            test_alu_operation(8'h00, 8'h01, 2'b01);</a:t>
            </a:r>
          </a:p>
          <a:p>
            <a:pPr>
              <a:lnSpc>
                <a:spcPts val="2200"/>
              </a:lnSpc>
              <a:spcAft>
                <a:spcPts val="400"/>
              </a:spcAft>
              <a:defRPr sz="2000" b="0">
                <a:solidFill>
                  <a:srgbClr val="333333"/>
                </a:solidFill>
                <a:latin typeface="Consolas"/>
              </a:defRPr>
            </a:pPr>
          </a:p>
          <a:p>
            <a:pPr>
              <a:lnSpc>
                <a:spcPts val="2200"/>
              </a:lnSpc>
              <a:spcAft>
                <a:spcPts val="400"/>
              </a:spcAft>
              <a:defRPr sz="2000" b="0">
                <a:solidFill>
                  <a:srgbClr val="333333"/>
                </a:solidFill>
                <a:latin typeface="Consolas"/>
              </a:defRPr>
            </a:pPr>
            <a:r>
              <a:t>            // Test AND</a:t>
            </a:r>
          </a:p>
          <a:p>
            <a:pPr>
              <a:lnSpc>
                <a:spcPts val="2200"/>
              </a:lnSpc>
              <a:spcAft>
                <a:spcPts val="400"/>
              </a:spcAft>
              <a:defRPr sz="2000" b="0">
                <a:solidFill>
                  <a:srgbClr val="333333"/>
                </a:solidFill>
                <a:latin typeface="Consolas"/>
              </a:defRPr>
            </a:pPr>
            <a:r>
              <a:t>            test_alu_operation(8'hAA, 8'h55, 2'b10);</a:t>
            </a:r>
          </a:p>
          <a:p>
            <a:pPr>
              <a:lnSpc>
                <a:spcPts val="2200"/>
              </a:lnSpc>
              <a:spcAft>
                <a:spcPts val="400"/>
              </a:spcAft>
              <a:defRPr sz="2000" b="0">
                <a:solidFill>
                  <a:srgbClr val="333333"/>
                </a:solidFill>
                <a:latin typeface="Consolas"/>
              </a:defRPr>
            </a:pPr>
            <a:r>
              <a:t>            test_alu_operation(8'hFF, 8'hFF, 2'b10);</a:t>
            </a:r>
          </a:p>
          <a:p>
            <a:pPr>
              <a:lnSpc>
                <a:spcPts val="2200"/>
              </a:lnSpc>
              <a:spcAft>
                <a:spcPts val="400"/>
              </a:spcAft>
              <a:defRPr sz="2000" b="0">
                <a:solidFill>
                  <a:srgbClr val="333333"/>
                </a:solidFill>
                <a:latin typeface="Consolas"/>
              </a:defRPr>
            </a:pPr>
            <a:r>
              <a:t># ...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learn_verilator_iverilog / Module 5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0"/>
            <a:ext cx="11064240" cy="13716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ctr">
              <a:lnSpc>
                <a:spcPts val="2200"/>
              </a:lnSpc>
              <a:defRPr sz="3600" b="1">
                <a:solidFill>
                  <a:srgbClr val="1A1A2E"/>
                </a:solidFill>
                <a:latin typeface="Calibri"/>
              </a:defRPr>
            </a:pPr>
            <a:r>
              <a:t>Verification &amp; testing methods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learn_verilator_iverilog / Module 5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1. Sequence-based stimulus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5303520" cy="475488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Multi-step tests: Reset →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configure → send N bytes → check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`tx` bit timing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Handshaking: Poll `tx_done` or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use timeout counters to detect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stuck FSM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Negative tests: Start without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reset, back-to-back `tx_start` —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expect defined errors</a:t>
            </a:r>
          </a:p>
        </p:txBody>
      </p:sp>
      <p:pic>
        <p:nvPicPr>
          <p:cNvPr id="4" name="Picture 3" descr="testing_method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172200" y="2094547"/>
            <a:ext cx="5394960" cy="3034665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learn_verilator_iverilog / Module 5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2. Timing and synchronization checks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5303520" cy="475488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Bit period: Verify one `eval()`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or time step per bit cell in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examples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Setup/hold: Ensure `tx_data`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stable before `tx_start` per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README contracts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Waveform review: UART frame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visible on `tx` in VCD — start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bit, LSB-first data</a:t>
            </a:r>
          </a:p>
        </p:txBody>
      </p:sp>
      <p:pic>
        <p:nvPicPr>
          <p:cNvPr id="4" name="Picture 3" descr="testing_method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172200" y="2094547"/>
            <a:ext cx="5394960" cy="3034665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learn_verilator_iverilog / Module 5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3. Reuse and regression methodology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5303520" cy="475488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Routine library: Centralize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protocol steps; tests only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describe high-level scenarios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File I/O regression: Replay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captured stimulus files across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tool releases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Orchestration: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`./scripts/module5.sh --test-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sequences` and `--file-io` for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focused runs</a:t>
            </a:r>
          </a:p>
        </p:txBody>
      </p:sp>
      <p:pic>
        <p:nvPicPr>
          <p:cNvPr id="4" name="Picture 3" descr="testing_method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172200" y="2094547"/>
            <a:ext cx="5394960" cy="3034665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learn_verilator_iverilog / Module 5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Procedural control — initial/always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143000"/>
            <a:ext cx="11064240" cy="5029200"/>
          </a:xfrm>
          <a:prstGeom prst="rect">
            <a:avLst/>
          </a:prstGeom>
          <a:solidFill>
            <a:srgbClr val="F4F4F4"/>
          </a:solidFill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400"/>
              </a:spcAft>
              <a:defRPr sz="2000" b="0">
                <a:solidFill>
                  <a:srgbClr val="333333"/>
                </a:solidFill>
                <a:latin typeface="Consolas"/>
              </a:defRPr>
            </a:pPr>
            <a:r>
              <a:t>/**</a:t>
            </a:r>
          </a:p>
          <a:p>
            <a:pPr>
              <a:lnSpc>
                <a:spcPts val="2200"/>
              </a:lnSpc>
              <a:spcAft>
                <a:spcPts val="400"/>
              </a:spcAft>
              <a:defRPr sz="2000" b="0">
                <a:solidFill>
                  <a:srgbClr val="333333"/>
                </a:solidFill>
                <a:latin typeface="Consolas"/>
              </a:defRPr>
            </a:pPr>
            <a:r>
              <a:t> * Task and Function Example - Verilog</a:t>
            </a:r>
          </a:p>
          <a:p>
            <a:pPr>
              <a:lnSpc>
                <a:spcPts val="2200"/>
              </a:lnSpc>
              <a:spcAft>
                <a:spcPts val="400"/>
              </a:spcAft>
              <a:defRPr sz="2000" b="0">
                <a:solidFill>
                  <a:srgbClr val="333333"/>
                </a:solidFill>
                <a:latin typeface="Consolas"/>
              </a:defRPr>
            </a:pPr>
            <a:r>
              <a:t> *</a:t>
            </a:r>
          </a:p>
          <a:p>
            <a:pPr>
              <a:lnSpc>
                <a:spcPts val="2200"/>
              </a:lnSpc>
              <a:spcAft>
                <a:spcPts val="400"/>
              </a:spcAft>
              <a:defRPr sz="2000" b="0">
                <a:solidFill>
                  <a:srgbClr val="333333"/>
                </a:solidFill>
                <a:latin typeface="Consolas"/>
              </a:defRPr>
            </a:pPr>
            <a:r>
              <a:t> * Demonstrates:</a:t>
            </a:r>
          </a:p>
          <a:p>
            <a:pPr>
              <a:lnSpc>
                <a:spcPts val="2200"/>
              </a:lnSpc>
              <a:spcAft>
                <a:spcPts val="400"/>
              </a:spcAft>
              <a:defRPr sz="2000" b="0">
                <a:solidFill>
                  <a:srgbClr val="333333"/>
                </a:solidFill>
                <a:latin typeface="Consolas"/>
              </a:defRPr>
            </a:pPr>
            <a:r>
              <a:t> * - Task definitions for test sequences</a:t>
            </a:r>
          </a:p>
          <a:p>
            <a:pPr>
              <a:lnSpc>
                <a:spcPts val="2200"/>
              </a:lnSpc>
              <a:spcAft>
                <a:spcPts val="400"/>
              </a:spcAft>
              <a:defRPr sz="2000" b="0">
                <a:solidFill>
                  <a:srgbClr val="333333"/>
                </a:solidFill>
                <a:latin typeface="Consolas"/>
              </a:defRPr>
            </a:pPr>
            <a:r>
              <a:t> * - Function definitions for calculations</a:t>
            </a:r>
          </a:p>
          <a:p>
            <a:pPr>
              <a:lnSpc>
                <a:spcPts val="2200"/>
              </a:lnSpc>
              <a:spcAft>
                <a:spcPts val="400"/>
              </a:spcAft>
              <a:defRPr sz="2000" b="0">
                <a:solidFill>
                  <a:srgbClr val="333333"/>
                </a:solidFill>
                <a:latin typeface="Consolas"/>
              </a:defRPr>
            </a:pPr>
            <a:r>
              <a:t> * - Parameter passing</a:t>
            </a:r>
          </a:p>
          <a:p>
            <a:pPr>
              <a:lnSpc>
                <a:spcPts val="2200"/>
              </a:lnSpc>
              <a:spcAft>
                <a:spcPts val="400"/>
              </a:spcAft>
              <a:defRPr sz="2000" b="0">
                <a:solidFill>
                  <a:srgbClr val="333333"/>
                </a:solidFill>
                <a:latin typeface="Consolas"/>
              </a:defRPr>
            </a:pPr>
            <a:r>
              <a:t> * - Reusable verification routines</a:t>
            </a:r>
          </a:p>
          <a:p>
            <a:pPr>
              <a:lnSpc>
                <a:spcPts val="2200"/>
              </a:lnSpc>
              <a:spcAft>
                <a:spcPts val="400"/>
              </a:spcAft>
              <a:defRPr sz="2000" b="0">
                <a:solidFill>
                  <a:srgbClr val="333333"/>
                </a:solidFill>
                <a:latin typeface="Consolas"/>
              </a:defRPr>
            </a:pPr>
            <a:r>
              <a:t> *</a:t>
            </a:r>
          </a:p>
          <a:p>
            <a:pPr>
              <a:lnSpc>
                <a:spcPts val="2200"/>
              </a:lnSpc>
              <a:spcAft>
                <a:spcPts val="400"/>
              </a:spcAft>
              <a:defRPr sz="2000" b="0">
                <a:solidFill>
                  <a:srgbClr val="333333"/>
                </a:solidFill>
                <a:latin typeface="Consolas"/>
              </a:defRPr>
            </a:pPr>
            <a:r>
              <a:t> * Usage:</a:t>
            </a:r>
          </a:p>
          <a:p>
            <a:pPr>
              <a:lnSpc>
                <a:spcPts val="2200"/>
              </a:lnSpc>
              <a:spcAft>
                <a:spcPts val="400"/>
              </a:spcAft>
              <a:defRPr sz="2000" b="0">
                <a:solidFill>
                  <a:srgbClr val="333333"/>
                </a:solidFill>
                <a:latin typeface="Consolas"/>
              </a:defRPr>
            </a:pPr>
            <a:r>
              <a:t> *   iverilog -o task_function_test task_function_test_verilog.v</a:t>
            </a:r>
          </a:p>
          <a:p>
            <a:pPr>
              <a:lnSpc>
                <a:spcPts val="2200"/>
              </a:lnSpc>
              <a:spcAft>
                <a:spcPts val="400"/>
              </a:spcAft>
              <a:defRPr sz="2000" b="0">
                <a:solidFill>
                  <a:srgbClr val="333333"/>
                </a:solidFill>
                <a:latin typeface="Consolas"/>
              </a:defRPr>
            </a:pPr>
            <a:r>
              <a:t>../../dut/alus/simple_alu.v</a:t>
            </a:r>
          </a:p>
          <a:p>
            <a:pPr>
              <a:lnSpc>
                <a:spcPts val="2200"/>
              </a:lnSpc>
              <a:spcAft>
                <a:spcPts val="400"/>
              </a:spcAft>
              <a:defRPr sz="2000" b="0">
                <a:solidFill>
                  <a:srgbClr val="333333"/>
                </a:solidFill>
                <a:latin typeface="Consolas"/>
              </a:defRPr>
            </a:pPr>
            <a:r>
              <a:t> *   vvp task_function_test</a:t>
            </a:r>
          </a:p>
          <a:p>
            <a:pPr>
              <a:lnSpc>
                <a:spcPts val="2200"/>
              </a:lnSpc>
              <a:spcAft>
                <a:spcPts val="400"/>
              </a:spcAft>
              <a:defRPr sz="2000" b="0">
                <a:solidFill>
                  <a:srgbClr val="333333"/>
                </a:solidFill>
                <a:latin typeface="Consolas"/>
              </a:defRPr>
            </a:pPr>
            <a:r>
              <a:t> */</a:t>
            </a:r>
          </a:p>
          <a:p>
            <a:pPr>
              <a:lnSpc>
                <a:spcPts val="2200"/>
              </a:lnSpc>
              <a:spcAft>
                <a:spcPts val="400"/>
              </a:spcAft>
              <a:defRPr sz="2000" b="0">
                <a:solidFill>
                  <a:srgbClr val="333333"/>
                </a:solidFill>
                <a:latin typeface="Consolas"/>
              </a:defRPr>
            </a:pPr>
          </a:p>
          <a:p>
            <a:pPr>
              <a:lnSpc>
                <a:spcPts val="2200"/>
              </a:lnSpc>
              <a:spcAft>
                <a:spcPts val="400"/>
              </a:spcAft>
              <a:defRPr sz="2000" b="0">
                <a:solidFill>
                  <a:srgbClr val="333333"/>
                </a:solidFill>
                <a:latin typeface="Consolas"/>
              </a:defRPr>
            </a:pPr>
            <a:r>
              <a:t>`timescale 1ns/1ps</a:t>
            </a:r>
          </a:p>
          <a:p>
            <a:pPr>
              <a:lnSpc>
                <a:spcPts val="2200"/>
              </a:lnSpc>
              <a:spcAft>
                <a:spcPts val="400"/>
              </a:spcAft>
              <a:defRPr sz="2000" b="0">
                <a:solidFill>
                  <a:srgbClr val="333333"/>
                </a:solidFill>
                <a:latin typeface="Consolas"/>
              </a:defRPr>
            </a:pPr>
          </a:p>
          <a:p>
            <a:pPr>
              <a:lnSpc>
                <a:spcPts val="2200"/>
              </a:lnSpc>
              <a:spcAft>
                <a:spcPts val="400"/>
              </a:spcAft>
              <a:defRPr sz="2000" b="0">
                <a:solidFill>
                  <a:srgbClr val="333333"/>
                </a:solidFill>
                <a:latin typeface="Consolas"/>
              </a:defRPr>
            </a:pPr>
            <a:r>
              <a:t># ...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learn_verilator_iverilog / Module 5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Result logging to file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143000"/>
            <a:ext cx="11064240" cy="5029200"/>
          </a:xfrm>
          <a:prstGeom prst="rect">
            <a:avLst/>
          </a:prstGeom>
          <a:solidFill>
            <a:srgbClr val="F4F4F4"/>
          </a:solidFill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400"/>
              </a:spcAft>
              <a:defRPr sz="2000" b="0">
                <a:solidFill>
                  <a:srgbClr val="333333"/>
                </a:solidFill>
                <a:latin typeface="Consolas"/>
              </a:defRPr>
            </a:pPr>
            <a:r>
              <a:t>* $readmemh reads hexadecimal values from file into memory array.</a:t>
            </a:r>
          </a:p>
          <a:p>
            <a:pPr>
              <a:lnSpc>
                <a:spcPts val="2200"/>
              </a:lnSpc>
              <a:spcAft>
                <a:spcPts val="400"/>
              </a:spcAft>
              <a:defRPr sz="2000" b="0">
                <a:solidFill>
                  <a:srgbClr val="333333"/>
                </a:solidFill>
                <a:latin typeface="Consolas"/>
              </a:defRPr>
            </a:pPr>
            <a:r>
              <a:t>         * File format: One hex value per line (e.g., "aabbcc" for</a:t>
            </a:r>
          </a:p>
          <a:p>
            <a:pPr>
              <a:lnSpc>
                <a:spcPts val="2200"/>
              </a:lnSpc>
              <a:spcAft>
                <a:spcPts val="400"/>
              </a:spcAft>
              <a:defRPr sz="2000" b="0">
                <a:solidFill>
                  <a:srgbClr val="333333"/>
                </a:solidFill>
                <a:latin typeface="Consolas"/>
              </a:defRPr>
            </a:pPr>
            <a:r>
              <a:t>24-bit value)</a:t>
            </a:r>
          </a:p>
          <a:p>
            <a:pPr>
              <a:lnSpc>
                <a:spcPts val="2200"/>
              </a:lnSpc>
              <a:spcAft>
                <a:spcPts val="400"/>
              </a:spcAft>
              <a:defRPr sz="2000" b="0">
                <a:solidFill>
                  <a:srgbClr val="333333"/>
                </a:solidFill>
                <a:latin typeface="Consolas"/>
              </a:defRPr>
            </a:pPr>
            <a:r>
              <a:t>         *</a:t>
            </a:r>
          </a:p>
          <a:p>
            <a:pPr>
              <a:lnSpc>
                <a:spcPts val="2200"/>
              </a:lnSpc>
              <a:spcAft>
                <a:spcPts val="400"/>
              </a:spcAft>
              <a:defRPr sz="2000" b="0">
                <a:solidFill>
                  <a:srgbClr val="333333"/>
                </a:solidFill>
                <a:latin typeface="Consolas"/>
              </a:defRPr>
            </a:pPr>
            <a:r>
              <a:t>         * test_vector format: [a[7:0], b[7:0], op[1:0]] = 18 bits total</a:t>
            </a:r>
          </a:p>
          <a:p>
            <a:pPr>
              <a:lnSpc>
                <a:spcPts val="2200"/>
              </a:lnSpc>
              <a:spcAft>
                <a:spcPts val="400"/>
              </a:spcAft>
              <a:defRPr sz="2000" b="0">
                <a:solidFill>
                  <a:srgbClr val="333333"/>
                </a:solidFill>
                <a:latin typeface="Consolas"/>
              </a:defRPr>
            </a:pPr>
            <a:r>
              <a:t>         * - Bits [17:10]: Input A (8 bits)</a:t>
            </a:r>
          </a:p>
          <a:p>
            <a:pPr>
              <a:lnSpc>
                <a:spcPts val="2200"/>
              </a:lnSpc>
              <a:spcAft>
                <a:spcPts val="400"/>
              </a:spcAft>
              <a:defRPr sz="2000" b="0">
                <a:solidFill>
                  <a:srgbClr val="333333"/>
                </a:solidFill>
                <a:latin typeface="Consolas"/>
              </a:defRPr>
            </a:pPr>
            <a:r>
              <a:t>         * - Bits [9:2]: Input B (8 bits)</a:t>
            </a:r>
          </a:p>
          <a:p>
            <a:pPr>
              <a:lnSpc>
                <a:spcPts val="2200"/>
              </a:lnSpc>
              <a:spcAft>
                <a:spcPts val="400"/>
              </a:spcAft>
              <a:defRPr sz="2000" b="0">
                <a:solidFill>
                  <a:srgbClr val="333333"/>
                </a:solidFill>
                <a:latin typeface="Consolas"/>
              </a:defRPr>
            </a:pPr>
            <a:r>
              <a:t>         * - Bits [1:0]: Operation code (2 bits)</a:t>
            </a:r>
          </a:p>
          <a:p>
            <a:pPr>
              <a:lnSpc>
                <a:spcPts val="2200"/>
              </a:lnSpc>
              <a:spcAft>
                <a:spcPts val="400"/>
              </a:spcAft>
              <a:defRPr sz="2000" b="0">
                <a:solidFill>
                  <a:srgbClr val="333333"/>
                </a:solidFill>
                <a:latin typeface="Consolas"/>
              </a:defRPr>
            </a:pPr>
            <a:r>
              <a:t>         *</a:t>
            </a:r>
          </a:p>
          <a:p>
            <a:pPr>
              <a:lnSpc>
                <a:spcPts val="2200"/>
              </a:lnSpc>
              <a:spcAft>
                <a:spcPts val="400"/>
              </a:spcAft>
              <a:defRPr sz="2000" b="0">
                <a:solidFill>
                  <a:srgbClr val="333333"/>
                </a:solidFill>
                <a:latin typeface="Consolas"/>
              </a:defRPr>
            </a:pPr>
            <a:r>
              <a:t>         * expected format: Expected result value (8 bits)</a:t>
            </a:r>
          </a:p>
          <a:p>
            <a:pPr>
              <a:lnSpc>
                <a:spcPts val="2200"/>
              </a:lnSpc>
              <a:spcAft>
                <a:spcPts val="400"/>
              </a:spcAft>
              <a:defRPr sz="2000" b="0">
                <a:solidFill>
                  <a:srgbClr val="333333"/>
                </a:solidFill>
                <a:latin typeface="Consolas"/>
              </a:defRPr>
            </a:pPr>
            <a:r>
              <a:t>         */</a:t>
            </a:r>
          </a:p>
          <a:p>
            <a:pPr>
              <a:lnSpc>
                <a:spcPts val="2200"/>
              </a:lnSpc>
              <a:spcAft>
                <a:spcPts val="400"/>
              </a:spcAft>
              <a:defRPr sz="2000" b="0">
                <a:solidFill>
                  <a:srgbClr val="333333"/>
                </a:solidFill>
                <a:latin typeface="Consolas"/>
              </a:defRPr>
            </a:pPr>
            <a:r>
              <a:t>        $readmemh("test_vectors.hex", test_vector);</a:t>
            </a:r>
          </a:p>
          <a:p>
            <a:pPr>
              <a:lnSpc>
                <a:spcPts val="2200"/>
              </a:lnSpc>
              <a:spcAft>
                <a:spcPts val="400"/>
              </a:spcAft>
              <a:defRPr sz="2000" b="0">
                <a:solidFill>
                  <a:srgbClr val="333333"/>
                </a:solidFill>
                <a:latin typeface="Consolas"/>
              </a:defRPr>
            </a:pPr>
            <a:r>
              <a:t>        $readmemh("expected_results.hex", expected);</a:t>
            </a:r>
          </a:p>
          <a:p>
            <a:pPr>
              <a:lnSpc>
                <a:spcPts val="2200"/>
              </a:lnSpc>
              <a:spcAft>
                <a:spcPts val="400"/>
              </a:spcAft>
              <a:defRPr sz="2000" b="0">
                <a:solidFill>
                  <a:srgbClr val="333333"/>
                </a:solidFill>
                <a:latin typeface="Consolas"/>
              </a:defRPr>
            </a:pPr>
          </a:p>
          <a:p>
            <a:pPr>
              <a:lnSpc>
                <a:spcPts val="2200"/>
              </a:lnSpc>
              <a:spcAft>
                <a:spcPts val="400"/>
              </a:spcAft>
              <a:defRPr sz="2000" b="0">
                <a:solidFill>
                  <a:srgbClr val="333333"/>
                </a:solidFill>
                <a:latin typeface="Consolas"/>
              </a:defRPr>
            </a:pPr>
            <a:r>
              <a:t>        $display("Read test vectors from file");</a:t>
            </a:r>
          </a:p>
          <a:p>
            <a:pPr>
              <a:lnSpc>
                <a:spcPts val="2200"/>
              </a:lnSpc>
              <a:spcAft>
                <a:spcPts val="400"/>
              </a:spcAft>
              <a:defRPr sz="2000" b="0">
                <a:solidFill>
                  <a:srgbClr val="333333"/>
                </a:solidFill>
                <a:latin typeface="Consolas"/>
              </a:defRPr>
            </a:pPr>
            <a:r>
              <a:t>        // Note: $size() is not supported by iverilog for memory arrays</a:t>
            </a:r>
          </a:p>
          <a:p>
            <a:pPr>
              <a:lnSpc>
                <a:spcPts val="2200"/>
              </a:lnSpc>
              <a:spcAft>
                <a:spcPts val="400"/>
              </a:spcAft>
              <a:defRPr sz="2000" b="0">
                <a:solidFill>
                  <a:srgbClr val="333333"/>
                </a:solidFill>
                <a:latin typeface="Consolas"/>
              </a:defRPr>
            </a:pPr>
            <a:r>
              <a:t>        // Using a fixed size or counting manually would be needed</a:t>
            </a:r>
          </a:p>
          <a:p>
            <a:pPr>
              <a:lnSpc>
                <a:spcPts val="2200"/>
              </a:lnSpc>
              <a:spcAft>
                <a:spcPts val="400"/>
              </a:spcAft>
              <a:defRPr sz="2000" b="0">
                <a:solidFill>
                  <a:srgbClr val="333333"/>
                </a:solidFill>
                <a:latin typeface="Consolas"/>
              </a:defRPr>
            </a:pPr>
            <a:r>
              <a:t># ...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learn_verilator_iverilog / Module 5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0"/>
            <a:ext cx="11064240" cy="13716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ctr">
              <a:lnSpc>
                <a:spcPts val="2200"/>
              </a:lnSpc>
              <a:defRPr sz="3600" b="1">
                <a:solidFill>
                  <a:srgbClr val="1A1A2E"/>
                </a:solidFill>
                <a:latin typeface="Calibri"/>
              </a:defRPr>
            </a:pPr>
            <a:r>
              <a:t>Syllabus topics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learn_verilator_iverilog / Module 5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1. Procedural Constructs (1/6)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Verilog: Initial Blocks for Test Sequences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Initial block usage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Sequential execution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Multiple initial blocks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Initial block organization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Verilog: Always Blocks for Continuous Behavior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learn_verilator_iverilog / Module 5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1. Procedural Constructs (2/6)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Always block usage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Continuous execution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Clock generation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Continuous monitoring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C++: Main Function and Control Flow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Main function structure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learn_verilator_iverilog / Module 5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1. Procedural Constructs (3/6)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Control flow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Sequential execution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Function organization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C++: Loops and Conditionals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For loops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While loops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learn_verilator_iverilog / Module 5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1. Procedural Constructs (4/6)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If-else statements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Switch statements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Verilog: Blocking vs. Non-Blocking Assignments in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Testbenches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Blocking assignments (=)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Non-blocking assignments (&lt;=)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When to use each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learn_verilator_iverilog / Module 5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1. Procedural Constructs (5/6)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Best practices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Procedural Timing Control (Both Paradigms)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Timing control methods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Timing accuracy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Timing relationships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Timing best practices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learn_verilator_iverilog / Module 5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1. Procedural Constructs (6/6)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Verilog: Event Control (@, wait)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Event control (@)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Wait statements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Event-based execution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Event coordination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learn_verilator_iverilog / Module 5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2. Timing Control (1/7)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Verilog: Delay Control (# delays)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Delay syntax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Delay timing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Delay accuracy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Delay best practices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**Verilog: Event Control (@posedge, @negedge, @*)**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learn_verilator_iverilog / Module 5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2. Timing Control (2/7)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Posedge control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Negedge control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Wildcard control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Event-based timing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C++: Time Management in Simulation Loop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Simulation loop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learn_verilator_iverilog / Module 5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2. Timing Control (3/7)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Time tracking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Time advancement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Time management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C++: Clock Cycle Counting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Cycle counting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Cycle-based timing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learn_verilator_iverilog / Module 5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2. Timing Control (4/7)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Cycle accuracy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Cycle management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Verilog: Wait Statements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Wait syntax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Wait conditions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Wait timing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learn_verilator_iverilog / Module 5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2. Timing Control (5/7)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Wait best practices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Timing Accuracy (Both Paradigms)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Timing precision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Timing relationships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Timing verification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Timing debugging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learn_verilator_iverilog / Module 5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2. Timing Control (6/7)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Race Condition Avoidance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Race conditions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Avoidance techniques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Best practices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Debugging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`timing_control_verilog.v`: Delay control, event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control, wait statements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learn_verilator_iverilog / Module 5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2. Timing Control (7/7)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`timing_control_cpp.cpp`: Time management in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simulation loop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learn_verilator_iverilog / Module 5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3. Test Sequences (1/5)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Sequential Test Application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Test ordering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Sequential execution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Test dependencies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Test coordination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Test Step Implementation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learn_verilator_iverilog / Module 5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3. Test Sequences (2/5)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Step definition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Step execution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Step timing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Step verification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Sequence Timing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Sequence timing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learn_verilator_iverilog / Module 5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3. Test Sequences (3/5)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Timing control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Timing accuracy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Timing verification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Synchronization with DUT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DUT synchronization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Timing relationships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learn_verilator_iverilog / Module 5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3. Test Sequences (4/5)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Synchronization methods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Synchronization verification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Sequence Verification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Sequence checking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Sequence validation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Sequence debugging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learn_verilator_iverilog / Module 5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3. Test Sequences (5/5)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Sequence best practices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learn_verilator_iverilog / Module 5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4. Reusable Routines (1/6)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Verilog: Task Definitions for Test Sequences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Task syntax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Task usage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Task parameters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Task organization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Verilog: Function Definitions for Calculations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learn_verilator_iverilog / Module 5</a:t>
            </a: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4. Reusable Routines (2/6)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Function syntax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Function usage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Function return values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Function organization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C++: Function Definitions for Test Sequences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Function syntax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learn_verilator_iverilog / Module 5</a:t>
            </a:r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4. Reusable Routines (3/6)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Function usage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Function parameters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Function organization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C++: Class Methods for Organization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Class methods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Method organization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learn_verilator_iverilog / Module 5</a:t>
            </a:r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4. Reusable Routines (4/6)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Method reusability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Method best practices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Parameter Passing (Both Paradigms)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Parameter syntax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Parameter types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Parameter passing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learn_verilator_iverilog / Module 5</a:t>
            </a:r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4. Reusable Routines (5/6)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Parameter best practices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Reusable Verification Routines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Routine design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Routine organization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Routine reusability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Routine library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learn_verilator_iverilog / Module 5</a:t>
            </a:r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4. Reusable Routines (6/6)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`task_function_test_verilog.v`: Tasks and functions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for reusable test sequences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`function_class_test_cpp.cpp`: Functions and classes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for reusable test sequences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learn_verilator_iverilog / Module 5</a:t>
            </a:r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5. Loops and Control Flow (1/5)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For Loops in Testbenches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For loop syntax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For loop usage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Loop-based testing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Loop best practices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While Loops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learn_verilator_iverilog / Module 5</a:t>
            </a:r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5. Loops and Control Flow (2/5)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While loop syntax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While loop usage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Conditional loops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Loop termination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Repeat Loops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Repeat syntax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learn_verilator_iverilog / Module 5</a:t>
            </a:r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5. Loops and Control Flow (3/5)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Repeat usage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Fixed iteration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Repeat best practices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Conditional Execution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If-else statements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Switch statements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learn_verilator_iverilog / Module 5</a:t>
            </a:r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5. Loops and Control Flow (4/5)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Conditional logic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Conditional best practices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Loop-Based Test Generation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Test generation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Loop-based patterns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Generation strategies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learn_verilator_iverilog / Module 5</a:t>
            </a:r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5. Loops and Control Flow (5/5)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Generation best practices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learn_verilator_iverilog / Module 5</a:t>
            </a:r>
          </a:p>
        </p:txBody>
      </p:sp>
    </p:spTree>
  </p:cSld>
  <p:clrMapOvr>
    <a:masterClrMapping/>
  </p:clrMapOvr>
</p:sld>
</file>

<file path=ppt/slides/slide5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6. File I/O (1/7)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Verilog: File Reading ($readmemh, $readmemb)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$readmemh syntax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$readmemb syntax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File reading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Memory initialization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Verilog: File Writing ($fopen, $fwrite, $fclose)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learn_verilator_iverilog / Module 5</a:t>
            </a:r>
          </a:p>
        </p:txBody>
      </p:sp>
    </p:spTree>
  </p:cSld>
  <p:clrMapOvr>
    <a:masterClrMapping/>
  </p:clrMapOvr>
</p:sld>
</file>

<file path=ppt/slides/slide5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6. File I/O (2/7)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$fopen syntax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$fwrite syntax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$fclose syntax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File writing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C++: File I/O (fstream, ifstream, ofstream)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fstream usage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learn_verilator_iverilog / Module 5</a:t>
            </a:r>
          </a:p>
        </p:txBody>
      </p:sp>
    </p:spTree>
  </p:cSld>
  <p:clrMapOvr>
    <a:masterClrMapping/>
  </p:clrMapOvr>
</p:sld>
</file>

<file path=ppt/slides/slide6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6. File I/O (3/7)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ifstream usage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ofstream usage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File operations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C++: Reading Test Vectors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Vector reading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Vector parsing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learn_verilator_iverilog / Module 5</a:t>
            </a:r>
          </a:p>
        </p:txBody>
      </p:sp>
    </p:spTree>
  </p:cSld>
  <p:clrMapOvr>
    <a:masterClrMapping/>
  </p:clrMapOvr>
</p:sld>
</file>

<file path=ppt/slides/slide6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6. File I/O (4/7)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Vector storage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Vector application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C++: Writing Results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Result writing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Result formatting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Result storage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learn_verilator_iverilog / Module 5</a:t>
            </a:r>
          </a:p>
        </p:txBody>
      </p:sp>
    </p:spTree>
  </p:cSld>
  <p:clrMapOvr>
    <a:masterClrMapping/>
  </p:clrMapOvr>
</p:sld>
</file>

<file path=ppt/slides/slide6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6. File I/O (5/7)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Result analysis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Test Vector File Formats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Format types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Format selection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Format parsing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Format best practices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learn_verilator_iverilog / Module 5</a:t>
            </a:r>
          </a:p>
        </p:txBody>
      </p:sp>
    </p:spTree>
  </p:cSld>
  <p:clrMapOvr>
    <a:masterClrMapping/>
  </p:clrMapOvr>
</p:sld>
</file>

<file path=ppt/slides/slide6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6. File I/O (6/7)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Result Logging to Files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Logging methods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Logging formats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Logging organization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Logging best practices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File-Based Testbenches (Both Paradigms)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learn_verilator_iverilog / Module 5</a:t>
            </a:r>
          </a:p>
        </p:txBody>
      </p:sp>
    </p:spTree>
  </p:cSld>
  <p:clrMapOvr>
    <a:masterClrMapping/>
  </p:clrMapOvr>
</p:sld>
</file>

<file path=ppt/slides/slide6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6. File I/O (7/7)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File-based design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File-based patterns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File-based best practices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File-based examples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`file_based_test_verilog.v`: File-based testbench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using $readmemh and $fwrite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`file_based_test_cpp.cpp`: File-based testbench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using C++ file streams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learn_verilator_iverilog / Module 5</a:t>
            </a:r>
          </a:p>
        </p:txBody>
      </p:sp>
    </p:spTree>
  </p:cSld>
  <p:clrMapOvr>
    <a:masterClrMapping/>
  </p:clrMapOvr>
</p:sld>
</file>

<file path=ppt/slides/slide6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7. Advanced Procedural Patterns (1/6)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State Machine-Based Testbenches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State machine design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State transitions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State verification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State machine patterns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Protocol-Based Testbenches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learn_verilator_iverilog / Module 5</a:t>
            </a:r>
          </a:p>
        </p:txBody>
      </p:sp>
    </p:spTree>
  </p:cSld>
  <p:clrMapOvr>
    <a:masterClrMapping/>
  </p:clrMapOvr>
</p:sld>
</file>

<file path=ppt/slides/slide6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7. Advanced Procedural Patterns (2/6)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Protocol modeling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Protocol sequences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Protocol verification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Protocol patterns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Transaction-Based Patterns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Transaction modeling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learn_verilator_iverilog / Module 5</a:t>
            </a:r>
          </a:p>
        </p:txBody>
      </p:sp>
    </p:spTree>
  </p:cSld>
  <p:clrMapOvr>
    <a:masterClrMapping/>
  </p:clrMapOvr>
</p:sld>
</file>

<file path=ppt/slides/slide6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7. Advanced Procedural Patterns (3/6)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Transaction sequences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Transaction verification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Transaction patterns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Layered Testbench Structure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Layer organization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Layer interaction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learn_verilator_iverilog / Module 5</a:t>
            </a:r>
          </a:p>
        </p:txBody>
      </p:sp>
    </p:spTree>
  </p:cSld>
  <p:clrMapOvr>
    <a:masterClrMapping/>
  </p:clrMapOvr>
</p:sld>
</file>

<file path=ppt/slides/slide6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7. Advanced Procedural Patterns (4/6)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Layer verification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Layer patterns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Location: (Coming soon)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Demonstrates: Protocol testbench, procedural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sequences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Location: (Coming soon)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Demonstrates: Protocol testbench, C++ control flow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learn_verilator_iverilog / Module 5</a:t>
            </a:r>
          </a:p>
        </p:txBody>
      </p:sp>
    </p:spTree>
  </p:cSld>
  <p:clrMapOvr>
    <a:masterClrMapping/>
  </p:clrMapOvr>
</p:sld>
</file>

<file path=ppt/slides/slide6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7. Advanced Procedural Patterns (5/6)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Location: `module5/examples/file_io/`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Demonstrates: File I/O, test vector reading, result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writing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Location: `module5/examples/reusable_routines/task_f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unction_test_verilog.v`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Demonstrates: Tasks and functions for reusable test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sequences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Location: `module5/examples/reusable_routines/functi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on_class_test_cpp.cpp`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Demonstrates: Functions and classes for reusable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test sequences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learn_verilator_iverilog / Module 5</a:t>
            </a:r>
          </a:p>
        </p:txBody>
      </p:sp>
    </p:spTree>
  </p:cSld>
  <p:clrMapOvr>
    <a:masterClrMapping/>
  </p:clrMapOvr>
</p:sld>
</file>

<file path=ppt/slides/slide7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7. Advanced Procedural Patterns (6/6)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Location: (Coming soon)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Demonstrates: State machine-based testbench patterns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Location: (Coming soon)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Demonstrates: Protocol testbench patterns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learn_verilator_iverilog / Module 5</a:t>
            </a:r>
          </a:p>
        </p:txBody>
      </p:sp>
    </p:spTree>
  </p:cSld>
  <p:clrMapOvr>
    <a:masterClrMapping/>
  </p:clrMapOvr>
</p:sld>
</file>

<file path=ppt/slides/slide7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0"/>
            <a:ext cx="11064240" cy="13716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ctr">
              <a:lnSpc>
                <a:spcPts val="2200"/>
              </a:lnSpc>
              <a:defRPr sz="3600" b="1">
                <a:solidFill>
                  <a:srgbClr val="1A1A2E"/>
                </a:solidFill>
                <a:latin typeface="Calibri"/>
              </a:defRPr>
            </a:pPr>
            <a:r>
              <a:t>Hands-on examples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learn_verilator_iverilog / Module 5</a:t>
            </a:r>
          </a:p>
        </p:txBody>
      </p:sp>
    </p:spTree>
  </p:cSld>
  <p:clrMapOvr>
    <a:masterClrMapping/>
  </p:clrMapOvr>
</p:sld>
</file>

<file path=ppt/slides/slide7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Module 5 self-check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051560"/>
            <a:ext cx="11064240" cy="914400"/>
          </a:xfrm>
          <a:prstGeom prst="rect">
            <a:avLst/>
          </a:prstGeom>
          <a:solidFill>
            <a:srgbClr val="F4F4F4"/>
          </a:solidFill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200"/>
              </a:spcAft>
              <a:defRPr sz="2000" b="0">
                <a:solidFill>
                  <a:srgbClr val="333333"/>
                </a:solidFill>
                <a:latin typeface="Consolas"/>
              </a:defRPr>
            </a:pPr>
            <a:r>
              <a:t>$ ./scripts/module5.sh --help</a:t>
            </a:r>
          </a:p>
        </p:txBody>
      </p:sp>
      <p:pic>
        <p:nvPicPr>
          <p:cNvPr id="4" name="Picture 3" descr="module5_chec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965960"/>
            <a:ext cx="7071358" cy="3977639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learn_verilator_iverilog / Module 5</a:t>
            </a:r>
          </a:p>
        </p:txBody>
      </p:sp>
    </p:spTree>
  </p:cSld>
  <p:clrMapOvr>
    <a:masterClrMapping/>
  </p:clrMapOvr>
</p:sld>
</file>

<file path=ppt/slides/slide7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Exercise scaffold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143000"/>
            <a:ext cx="11064240" cy="5029200"/>
          </a:xfrm>
          <a:prstGeom prst="rect">
            <a:avLst/>
          </a:prstGeom>
          <a:solidFill>
            <a:srgbClr val="F4F4F4"/>
          </a:solidFill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400"/>
              </a:spcAft>
              <a:defRPr sz="2000" b="0">
                <a:solidFill>
                  <a:srgbClr val="333333"/>
                </a:solidFill>
                <a:latin typeface="Consolas"/>
              </a:defRPr>
            </a:pPr>
            <a:r>
              <a:t>./scripts/module5.sh --scaffold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learn_verilator_iverilog / Module 5</a:t>
            </a:r>
          </a:p>
        </p:txBody>
      </p:sp>
    </p:spTree>
  </p:cSld>
  <p:clrMapOvr>
    <a:masterClrMapping/>
  </p:clrMapOvr>
</p:sld>
</file>

<file path=ppt/slides/slide7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Demo: Procedural constructs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051560"/>
            <a:ext cx="11064240" cy="914400"/>
          </a:xfrm>
          <a:prstGeom prst="rect">
            <a:avLst/>
          </a:prstGeom>
          <a:solidFill>
            <a:srgbClr val="F4F4F4"/>
          </a:solidFill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200"/>
              </a:spcAft>
              <a:defRPr sz="2000" b="0">
                <a:solidFill>
                  <a:srgbClr val="333333"/>
                </a:solidFill>
                <a:latin typeface="Consolas"/>
              </a:defRPr>
            </a:pPr>
            <a:r>
              <a:t>$ cd module5/examples/procedural_constructs &amp;&amp; make all</a:t>
            </a:r>
          </a:p>
        </p:txBody>
      </p:sp>
      <p:pic>
        <p:nvPicPr>
          <p:cNvPr id="4" name="Picture 3" descr="ex01_procedural_construct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965960"/>
            <a:ext cx="7071358" cy="3977639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learn_verilator_iverilog / Module 5</a:t>
            </a:r>
          </a:p>
        </p:txBody>
      </p:sp>
    </p:spTree>
  </p:cSld>
  <p:clrMapOvr>
    <a:masterClrMapping/>
  </p:clrMapOvr>
</p:sld>
</file>

<file path=ppt/slides/slide7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Demo: Reusable routines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051560"/>
            <a:ext cx="11064240" cy="914400"/>
          </a:xfrm>
          <a:prstGeom prst="rect">
            <a:avLst/>
          </a:prstGeom>
          <a:solidFill>
            <a:srgbClr val="F4F4F4"/>
          </a:solidFill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200"/>
              </a:spcAft>
              <a:defRPr sz="2000" b="0">
                <a:solidFill>
                  <a:srgbClr val="333333"/>
                </a:solidFill>
                <a:latin typeface="Consolas"/>
              </a:defRPr>
            </a:pPr>
            <a:r>
              <a:t>$ cd module5/examples/reusable_routines &amp;&amp; make all</a:t>
            </a:r>
          </a:p>
        </p:txBody>
      </p:sp>
      <p:pic>
        <p:nvPicPr>
          <p:cNvPr id="4" name="Picture 3" descr="ex02_reusable_routin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965960"/>
            <a:ext cx="7071358" cy="3977639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learn_verilator_iverilog / Module 5</a:t>
            </a:r>
          </a:p>
        </p:txBody>
      </p:sp>
    </p:spTree>
  </p:cSld>
  <p:clrMapOvr>
    <a:masterClrMapping/>
  </p:clrMapOvr>
</p:sld>
</file>

<file path=ppt/slides/slide7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Demo: File I/O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051560"/>
            <a:ext cx="11064240" cy="914400"/>
          </a:xfrm>
          <a:prstGeom prst="rect">
            <a:avLst/>
          </a:prstGeom>
          <a:solidFill>
            <a:srgbClr val="F4F4F4"/>
          </a:solidFill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200"/>
              </a:spcAft>
              <a:defRPr sz="2000" b="0">
                <a:solidFill>
                  <a:srgbClr val="333333"/>
                </a:solidFill>
                <a:latin typeface="Consolas"/>
              </a:defRPr>
            </a:pPr>
            <a:r>
              <a:t>$ cd module5/examples/file_io &amp;&amp; make all</a:t>
            </a:r>
          </a:p>
        </p:txBody>
      </p:sp>
      <p:pic>
        <p:nvPicPr>
          <p:cNvPr id="4" name="Picture 3" descr="ex03_file_i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965960"/>
            <a:ext cx="7071358" cy="3977639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learn_verilator_iverilog / Module 5</a:t>
            </a:r>
          </a:p>
        </p:txBody>
      </p:sp>
    </p:spTree>
  </p:cSld>
  <p:clrMapOvr>
    <a:masterClrMapping/>
  </p:clrMapOvr>
</p:sld>
</file>

<file path=ppt/slides/slide7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Demo: Test sequences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051560"/>
            <a:ext cx="11064240" cy="914400"/>
          </a:xfrm>
          <a:prstGeom prst="rect">
            <a:avLst/>
          </a:prstGeom>
          <a:solidFill>
            <a:srgbClr val="F4F4F4"/>
          </a:solidFill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200"/>
              </a:spcAft>
              <a:defRPr sz="2000" b="0">
                <a:solidFill>
                  <a:srgbClr val="333333"/>
                </a:solidFill>
                <a:latin typeface="Consolas"/>
              </a:defRPr>
            </a:pPr>
            <a:r>
              <a:t>$ cd module5/examples/test_sequences &amp;&amp; make all</a:t>
            </a:r>
          </a:p>
        </p:txBody>
      </p:sp>
      <p:pic>
        <p:nvPicPr>
          <p:cNvPr id="4" name="Picture 3" descr="ex04_test_sequenc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965960"/>
            <a:ext cx="7071358" cy="3977639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learn_verilator_iverilog / Module 5</a:t>
            </a:r>
          </a:p>
        </p:txBody>
      </p:sp>
    </p:spTree>
  </p:cSld>
  <p:clrMapOvr>
    <a:masterClrMapping/>
  </p:clrMapOvr>
</p:sld>
</file>

<file path=ppt/slides/slide7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0"/>
            <a:ext cx="11064240" cy="13716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ctr">
              <a:lnSpc>
                <a:spcPts val="2200"/>
              </a:lnSpc>
              <a:defRPr sz="3600" b="1">
                <a:solidFill>
                  <a:srgbClr val="1A1A2E"/>
                </a:solidFill>
                <a:latin typeface="Calibri"/>
              </a:defRPr>
            </a:pPr>
            <a:r>
              <a:t>Practice &amp; assessment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learn_verilator_iverilog / Module 5</a:t>
            </a:r>
          </a:p>
        </p:txBody>
      </p:sp>
    </p:spTree>
  </p:cSld>
  <p:clrMapOvr>
    <a:masterClrMapping/>
  </p:clrMapOvr>
</p:sld>
</file>

<file path=ppt/slides/slide7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What you should know (1/11)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Write procedural testbenches effectively (both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paradigms)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Control timing in testbenches (Verilog and C++)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Create complex test sequences (both paradigms)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Use tasks/functions (Verilog) and functions/classes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(C++) for organization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Implement file-based testing (both paradigms)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Build protocol testbenches (both paradigms)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learn_verilator_iverilog / Module 5</a:t>
            </a:r>
          </a:p>
        </p:txBody>
      </p:sp>
    </p:spTree>
  </p:cSld>
  <p:clrMapOvr>
    <a:masterClrMapping/>
  </p:clrMapOvr>
</p:sld>
</file>

<file path=ppt/slides/slide8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What you should know (2/11)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Define tasks for test sequences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Use functions for calculations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Organize code with reusable routines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Define functions for test sequences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Use classes for organization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Compare with Verilog approach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learn_verilator_iverilog / Module 5</a:t>
            </a:r>
          </a:p>
        </p:txBody>
      </p:sp>
    </p:spTree>
  </p:cSld>
  <p:clrMapOvr>
    <a:masterClrMapping/>
  </p:clrMapOvr>
</p:sld>
</file>

<file path=ppt/slides/slide8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What you should know (3/11)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Read test vectors from files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Write results to files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Implement file-based testing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Implement protocol sequences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Handle timing requirements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Verify protocol compliance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learn_verilator_iverilog / Module 5</a:t>
            </a:r>
          </a:p>
        </p:txBody>
      </p:sp>
    </p:spTree>
  </p:cSld>
  <p:clrMapOvr>
    <a:masterClrMapping/>
  </p:clrMapOvr>
</p:sld>
</file>

<file path=ppt/slides/slide8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What you should know (4/11)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Model testbench as state machine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Implement state transitions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Verify state coverage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Design reusable components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Parameterize routines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Build verification library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learn_verilator_iverilog / Module 5</a:t>
            </a:r>
          </a:p>
        </p:txBody>
      </p:sp>
    </p:spTree>
  </p:cSld>
  <p:clrMapOvr>
    <a:masterClrMapping/>
  </p:clrMapOvr>
</p:sld>
</file>

<file path=ppt/slides/slide8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What you should know (5/11)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Can write procedural testbenches effectively (both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paradigms)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Can control timing in testbenches (Verilog and C++)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Can create complex test sequences (both paradigms)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Can use tasks/functions (Verilog) and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functions/classes (C++) for organization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Can implement file-based testing (both paradigms)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Can build protocol testbenches (both paradigms)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learn_verilator_iverilog / Module 5</a:t>
            </a:r>
          </a:p>
        </p:txBody>
      </p:sp>
    </p:spTree>
  </p:cSld>
  <p:clrMapOvr>
    <a:masterClrMapping/>
  </p:clrMapOvr>
</p:sld>
</file>

<file path=ppt/slides/slide8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What you should know (6/11)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Module 6: SystemVerilog Testbench Features - Learn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SystemVerilog enhancements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Module 7: Coverage and Assertions - Master coverage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and assertion-based verification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File Headers: Every file includes comprehensive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header documentation: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Purpose and learning objectives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Key concepts explained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Compilation and execution instructions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learn_verilator_iverilog / Module 5</a:t>
            </a:r>
          </a:p>
        </p:txBody>
      </p:sp>
    </p:spTree>
  </p:cSld>
  <p:clrMapOvr>
    <a:masterClrMapping/>
  </p:clrMapOvr>
</p:sld>
</file>

<file path=ppt/slides/slide8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What you should know (7/11)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Usage examples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Inline Comments: Detailed comments explain: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Why code is written a certain way (not just what it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does)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Procedural block behavior and timing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Task/function usage and parameter passing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File I/O operations and formats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learn_verilator_iverilog / Module 5</a:t>
            </a:r>
          </a:p>
        </p:txBody>
      </p:sp>
    </p:spTree>
  </p:cSld>
  <p:clrMapOvr>
    <a:masterClrMapping/>
  </p:clrMapOvr>
</p:sld>
</file>

<file path=ppt/slides/slide8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What you should know (8/11)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Timing control mechanisms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Code Organization: Comments group related code: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Signal declarations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DUT instantiation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Reusable routines (tasks/functions)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Test sequences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learn_verilator_iverilog / Module 5</a:t>
            </a:r>
          </a:p>
        </p:txBody>
      </p:sp>
    </p:spTree>
  </p:cSld>
  <p:clrMapOvr>
    <a:masterClrMapping/>
  </p:clrMapOvr>
</p:sld>
</file>

<file path=ppt/slides/slide8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What you should know (9/11)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File operations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Icarus Verilog Documentation: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http://iverilog.wikia.com/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Verilator Documentation: https://verilator.org/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GTKWave Documentation: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http://gtkwave.sourceforge.net/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IEEE 1364-2005 Standard: Verilog Hardware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Description Language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IEEE 1800-2017 Standard: SystemVerilog Language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Reference Manual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learn_verilator_iverilog / Module 5</a:t>
            </a:r>
          </a:p>
        </p:txBody>
      </p:sp>
    </p:spTree>
  </p:cSld>
  <p:clrMapOvr>
    <a:masterClrMapping/>
  </p:clrMapOvr>
</p:sld>
</file>

<file path=ppt/slides/slide8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What you should know (10/11)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Universal Verification Methodology (UVM):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https://accellera.org/downloads/standards/uvm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UVM Core Repository: https://github.com/universal-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verification-methodology/core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Official UVM library with examples of: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Reusable components (agents, drivers, monitors)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Sequence-based stimulus generation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Configuration management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learn_verilator_iverilog / Module 5</a:t>
            </a:r>
          </a:p>
        </p:txBody>
      </p:sp>
    </p:spTree>
  </p:cSld>
  <p:clrMapOvr>
    <a:masterClrMapping/>
  </p:clrMapOvr>
</p:sld>
</file>

<file path=ppt/slides/slide8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What you should know (11/11)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Phase-based testbench control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learn_verilator_iverilog / Module 5</a:t>
            </a:r>
          </a:p>
        </p:txBody>
      </p:sp>
    </p:spTree>
  </p:cSld>
  <p:clrMapOvr>
    <a:masterClrMapping/>
  </p:clrMapOvr>
</p:sld>
</file>

<file path=ppt/slides/slide9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Assessment checklist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Can write procedural testbenches effectively (both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paradigms)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Can control timing in testbenches (Verilog and C++)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Can create complex test sequences (both paradigms)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Can use tasks/functions (Verilog) and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functions/classes (C++) for organization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Can implement file-based testing (both paradigms)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Can build protocol testbenches (both paradigms)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learn_verilator_iverilog / Module 5</a:t>
            </a:r>
          </a:p>
        </p:txBody>
      </p:sp>
    </p:spTree>
  </p:cSld>
  <p:clrMapOvr>
    <a:masterClrMapping/>
  </p:clrMapOvr>
</p:sld>
</file>

<file path=ppt/slides/slide9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Summary &amp; next steps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Master procedural testbench construction using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Verilog procedural blocks and C++ control flow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Complete module5/CHECKLIST.md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Review module5/EXAMPLES.md and run each lab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Next: Next module in course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learn_verilator_iverilog / Module 5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