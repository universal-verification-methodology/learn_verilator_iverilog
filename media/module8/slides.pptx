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Compiles reusable generator modules + mux DUT + top TB.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clock_generator and reset_generator parameterized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clk_gen, rst_gen, stim_gen, dut, monitor, checker, scoreboard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cd module8/examples/verification_metrics &amp;&amp; make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checker samples on posedge clk; $error on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total_tests, passed_tests, failed_tests, coverage_bins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iverilog vs Verilator; SV feature needs vs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$display of pass rate and coverage before regression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module8/examples/testbench_architecture/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module8/examples/verification_metrics/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module8/examples/tool_selection/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module8/examples/coding_standards/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Verification Methodology and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verification methodology and industry best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verification methodology and industry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focuses on verification methodology,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best practices, and preparing for real-world verif…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End-to-end verification program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portfolio: Gates, counters,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multiplexers — representative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TB styles: Modular Verilog TBs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C++ Verilator TBs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`tests/`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Knowledge base: Guides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`examples/` (planning, metrics,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sign-off, industry practices)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`./scripts/module8.sh`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orchestrates methodology demos,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not just RTL compiles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Layered testbench architecture (production pattern)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layer: Selects scenario,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configures plusargs, sets pass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criteria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layer: Agents,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scoreboard, coverage collectors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reusable per project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layer: RTL with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optional bind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layer: Simulator choice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(iverilog vs Verilator) 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 complexity and SV needs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Verification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shell: Scripts batch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examples; logs archived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trend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Documentation: Test plans,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coding standards, tool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comparison guides in-repo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Metrics store: Example formats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coverage/assertion summaries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sign-off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Modular TB Makefile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modular_testbench_verilog: modular_testbench_verilog.v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Verilog modular testbench example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-o modular_testbench modular_testbench_verilog.v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$(DUT_DIR)/multiplexers/mux_4to1.v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modular_testbench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Reusable clock/reset generators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Clock Generator Module (Reusable)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clock_generator #(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parameter PERIOD = 20  // Clock period in ns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clk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initial clk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always #(PERIOD/2) clk = ~clk;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endmodule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Reset Generator Module (Reusable)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=====================================================================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Top TB — wire agents to DUT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modular_testbench_verilog;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Parameters (Configurability)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parameter CLOCK_PERIOD = 20;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parameter RESET_DURATION = 100;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parameter NUM_TESTS = 16;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Signals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clk;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rst_n;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[1:0] sel;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[3:0] inputs;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out;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valid;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done;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error;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module8/examples/&lt;example&gt;/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aggregates checker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metrics tracker reports pass rate and coverage bins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modular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tool selection guide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./scripts/module8.sh --check for sign-off readiness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cd module8/examples/testbench_architecture &amp;&amp;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modular_testbench_verilog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Metrics tracker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verification metrics examples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IVERILOG = iverilog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VVP = vvp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 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DUT_DIR = ../../dut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all: metrics_tracker_verilog metrics_tracker_cpp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metrics_tracker_verilog: metrics_tracker_verilog.v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Verilog metrics tracker example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-o metrics_tracker metrics_tracker_verilog.v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$(DUT_DIR)/simple_gates/and_gate.v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metrics_tracker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metrics_tracker_cpp: metrics_tracker_cpp.cpp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Checker module — expected vs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checker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clk,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rst_n,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[1:0] sel,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[3:0] inputs,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out,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valid,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error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reg [3:0] expected;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always @(*)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if (rst_n &amp;&amp; valid)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case (sel)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  2'b00: expected = inputs[0];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  2'b01: expected = inputs[1];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planning and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plan: Features → test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→ priority → owner → status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selection: Directed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vs assertion-heavy 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risk area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Entry/exit criteria: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 done per milestone (smoke,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feature, full regression)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Metrics, regression, and debug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Metrics: Functional coverage,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 pass rate, test count,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bug find rate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Regression: Nightly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`./scripts/module8.sh` style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runs; compare logs to golden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process: Reproduce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minimize → fix → add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(examples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`debugging_methodology…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Sign-off and industry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Sign-off checklist: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goals met, zero outstanding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sev-1 assertions, plan executed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selection: Decision matrix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(iverilog vs Verilator)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`tool_selection/` guide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Maintainability: Coding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standards and modular TB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team-scale projects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Metrics — test counters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Metrics tracking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integer total_tests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integer passed_tests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integer failed_tests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integer coverage_bins[0:3];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integer bugs_found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real start_time;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real end_time;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Instantiate DUT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and_gate dut (.a(a), .b(b), .y(y));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Function to calculate coverage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Note: Verilog requires functions to have at least one input port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function real calculate_coverage;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input dummy;  // Dummy input to satisfy Verilog requirement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Tool selection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Tool Selection and Integration Guide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This guide helps you choose between iverilog and Verilator for your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verification projects.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When to Use iverilog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### Advantages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**Full Verilog/SystemVerilog Support**: Supports most Verilog and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SystemVerilog features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**Standard Compliance**: Better compliance with IEEE standards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**Interactive Debugging**: Better support for interactive debugging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**Waveform Generation**: Built-in VCD generation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**SystemVerilog Features**: Supports classes, interfaces, packages,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etc.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### Best For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 SystemVerilog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Sign-off metrics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$display("  Coverage:        %.1f%%", coverage);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bin_count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for (i = 0; i &lt; 4; i = i + 1)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    if (coverage_bins[i]) bin_count = bin_count + 1;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end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  Coverage bins:   %0d/4", bin_count);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$display("Bug Metrics:");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  Bugs found:      %0d", bugs_found);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$display("Quality Metrics:");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  Test time:       %.1f ns", test_time);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  Tests/sec:       %.1f", total_tests / (test_time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 1000.0));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$display("========================================");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end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endtask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Planning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 content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 review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plan maintenance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Planning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evaluation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Planning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prioritization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Planning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Estimation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allocation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Planning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Best Practices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Modular Design Principles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separation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Best Practices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Best Practices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Best Practices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review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refactoring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Scalability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Scalable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Testbench Architecture Best Practices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Growth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`modular_testbench_verilog.v`: Well-structured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modular testbench in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`modular_testbench_cpp.cpp`: Well-structured modular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Coding Standards for Testbenches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Naming Conventions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Function/task naming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Coding Standards for Testbenches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layout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Commenting Standards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Header 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Coding Standards for Testbenches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Inline comments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Section comments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comments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README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Coding Standards for Testbenches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User guides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Style Guides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style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style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Coding Standards for Testbenches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`coding_standards_guide.md`: Comprehensive coding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standards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Metrics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Toggle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Metrics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Metrics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pass rate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efficiency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Progress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Progress measurement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Progress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Metrics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Progress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Progress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Quality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Quality measurement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Quality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Quality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Metrics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Quality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`metrics_tracker_verilog.v`: Metrics tracking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`metrics_tracker_cpp.cpp`: Metrics tracking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Debugging Methodology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Systematic Debugging Approach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techniques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Tools and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Debugging Methodology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viewers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scripts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Debugging Methodology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Debugging Methodology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Root Cause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Debugging Methodology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Regression Testing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 Suite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suite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categorization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maintenance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Regression Testing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prioritization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efficiency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Regression Testing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Automation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CI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CI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Regression Testing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CI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CI maintenance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Regression Testing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Verification Sign-Off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Sign-Off Criteria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Criteria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Criteria measurement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Criteria achievement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Criteria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Verification Sign-Off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achievement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Verification Sign-Off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 closure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Verification Sign-Off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review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 maintenance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preparation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Verification Sign-Off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Tool Selection and Integration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Advantages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Verilator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Tool Selection and Integration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Advantages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Comparison and Trade-offs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Tool Selection and Integration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Cost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Selection criteria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Considerations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speed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Tool Selection and Integration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Feature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Tool Selection and Integration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Hybrid Approaches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combination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Workflow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Tool Selection and Integration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`tool_comparison_guide.md`: Tool selection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comparison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Management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Project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closure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Management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allocation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Resource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Schedule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Schedule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Management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Schedule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Schedule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Schedule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Risk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Risk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Management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Risk mitigation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Risk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Communication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Communication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Project Management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Industry Practices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Verification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ecosystem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maintenance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Industry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Industry Practices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standards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Industry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Compliance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Certification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Ecosystems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Industry Practices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workflows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evolution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Career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Skill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Career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Industry Practices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Professional growth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Continuing education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Continuing Education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Learning resources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Training programs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Industry Practices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Professional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Transition to Commercial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evaluation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migration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training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Industry Practices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See testbench architecture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Complete verification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following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`module8/examples/testbench_architecture/`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Modular, reusable, configurable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See coding standards and guides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Comprehensive documentation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Industry Practices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See verification metrics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Metrics tracking and sign-off criteria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Various example directories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Best practices and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8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--help</a:t>
            </a:r>
          </a:p>
        </p:txBody>
      </p:sp>
      <p:pic>
        <p:nvPicPr>
          <p:cNvPr id="4" name="Picture 3" descr="module8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module8/examples/testbench_architecture &amp;&amp; make all</a:t>
            </a:r>
          </a:p>
        </p:txBody>
      </p:sp>
      <p:pic>
        <p:nvPicPr>
          <p:cNvPr id="4" name="Picture 3" descr="ex01_testbench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Verification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module8/examples/verification_metrics &amp;&amp; make all</a:t>
            </a:r>
          </a:p>
        </p:txBody>
      </p:sp>
      <p:pic>
        <p:nvPicPr>
          <p:cNvPr id="4" name="Picture 3" descr="ex02_verific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Tool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module8/examples/tool_selection/tool_comparison_guide.md</a:t>
            </a:r>
          </a:p>
        </p:txBody>
      </p:sp>
      <p:pic>
        <p:nvPicPr>
          <p:cNvPr id="4" name="Picture 3" descr="ex03_tool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Coding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module8/examples/coding_standards/coding_standards_guide.md</a:t>
            </a:r>
          </a:p>
        </p:txBody>
      </p:sp>
      <p:pic>
        <p:nvPicPr>
          <p:cNvPr id="4" name="Picture 3" descr="ex04_coding_stand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verification projects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Measure verification progress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systematically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Manage regression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Achieve verification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industry methodologies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Develop test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 test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Estimate resources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modular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Follow coding standards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reusable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thoroughly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test suite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Analyze regressions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test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sign-off package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Achieve coverage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Close all bugs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and sign-off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plan verification projects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measure verification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debug systematically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manage regression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achieve verification sign-off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industry methodologies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Methodology: Advanced verification with UVM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learn_uvm2017_sv_verilator repository)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Formal Verification: Property-based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Advanced Topics: Power verification,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Industry Projects: Apply skills to real-world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Commercial Tools: Transition to VCS, QuestaSim,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Xcelium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Icarus Verilog Documentation: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http://iverilog.wikia.com/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Documentation: https://verilator.org/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Documentation: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http://gtkwave.sourceforge.net/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1364-2005 Standard: Verilog Hardware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Description Language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1800-2017 Standard: SystemVerilog Language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 Manual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effective testbenches in Verilog and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both iverilog and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verification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and execute verification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Achieve verification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plan verification projects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measure verification progress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debug systematically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manage regression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achieve verification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verification methodology and industry best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module8/CHECKLIST.md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module8/EXAMPLES.md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